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heme/themeOverride1.xml" ContentType="application/vnd.openxmlformats-officedocument.themeOverr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8" r:id="rId1"/>
    <p:sldMasterId id="2147483669" r:id="rId2"/>
  </p:sldMasterIdLst>
  <p:notesMasterIdLst>
    <p:notesMasterId r:id="rId15"/>
  </p:notesMasterIdLst>
  <p:sldIdLst>
    <p:sldId id="256" r:id="rId3"/>
    <p:sldId id="315" r:id="rId4"/>
    <p:sldId id="324" r:id="rId5"/>
    <p:sldId id="313" r:id="rId6"/>
    <p:sldId id="317" r:id="rId7"/>
    <p:sldId id="321" r:id="rId8"/>
    <p:sldId id="323" r:id="rId9"/>
    <p:sldId id="318" r:id="rId10"/>
    <p:sldId id="322" r:id="rId11"/>
    <p:sldId id="319" r:id="rId12"/>
    <p:sldId id="320" r:id="rId13"/>
    <p:sldId id="265" r:id="rId14"/>
  </p:sldIdLst>
  <p:sldSz cx="9144000" cy="5143500" type="screen16x9"/>
  <p:notesSz cx="6858000" cy="9144000"/>
  <p:embeddedFontLst>
    <p:embeddedFont>
      <p:font typeface="Cambria Math" panose="02040503050406030204" pitchFamily="18" charset="0"/>
      <p:regular r:id="rId16"/>
    </p:embeddedFont>
    <p:embeddedFont>
      <p:font typeface="Nunito" pitchFamily="2" charset="0"/>
      <p:regular r:id="rId17"/>
      <p:bold r:id="rId18"/>
      <p:italic r:id="rId19"/>
      <p:boldItalic r:id="rId20"/>
    </p:embeddedFont>
    <p:embeddedFont>
      <p:font typeface="Nunito ExtraBold" pitchFamily="2" charset="0"/>
      <p:bold r:id="rId21"/>
      <p:boldItalic r:id="rId22"/>
    </p:embeddedFont>
    <p:embeddedFont>
      <p:font typeface="Nunito SemiBold" pitchFamily="2" charset="0"/>
      <p:regular r:id="rId23"/>
      <p:bold r:id="rId24"/>
      <p:italic r:id="rId25"/>
      <p:boldItalic r:id="rId26"/>
    </p:embeddedFont>
    <p:embeddedFont>
      <p:font typeface="Roboto" panose="02000000000000000000" pitchFamily="2"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CCFFCC"/>
    <a:srgbClr val="66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68A5A3-9111-4FF8-8ADE-34C9E6D1FE28}" v="179" dt="2026-04-19T12:37:15.400"/>
  </p1510:revLst>
</p1510:revInfo>
</file>

<file path=ppt/tableStyles.xml><?xml version="1.0" encoding="utf-8"?>
<a:tblStyleLst xmlns:a="http://schemas.openxmlformats.org/drawingml/2006/main" def="{60BA267F-57BB-4B82-9B38-EB87E1CD43B7}">
  <a:tblStyle styleId="{60BA267F-57BB-4B82-9B38-EB87E1CD43B7}" styleName="Table_0">
    <a:wholeTbl>
      <a:tcTxStyle b="off" i="off">
        <a:font>
          <a:latin typeface="Arial"/>
          <a:ea typeface="Arial"/>
          <a:cs typeface="Arial"/>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rgbClr val="5B9BD5"/>
              </a:solidFill>
              <a:prstDash val="solid"/>
              <a:round/>
              <a:headEnd type="none" w="sm" len="sm"/>
              <a:tailEnd type="none" w="sm" len="sm"/>
            </a:ln>
          </a:top>
          <a:bottom>
            <a:ln w="12700" cap="flat" cmpd="sng">
              <a:solidFill>
                <a:srgbClr val="5B9BD5"/>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fill>
          <a:solidFill>
            <a:srgbClr val="5B9BD5">
              <a:alpha val="20000"/>
            </a:srgbClr>
          </a:solidFill>
        </a:fill>
      </a:tcStyle>
    </a:band1H>
    <a:band2H>
      <a:tcTxStyle b="off" i="off"/>
      <a:tcStyle>
        <a:tcBdr/>
      </a:tcStyle>
    </a:band2H>
    <a:band1V>
      <a:tcTxStyle b="off" i="off"/>
      <a:tcStyle>
        <a:tcBdr/>
        <a:fill>
          <a:solidFill>
            <a:srgbClr val="5B9BD5">
              <a:alpha val="20000"/>
            </a:srgb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12700" cap="flat" cmpd="sng">
              <a:solidFill>
                <a:srgbClr val="5B9BD5"/>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12700" cap="flat" cmpd="sng">
              <a:solidFill>
                <a:srgbClr val="5B9BD5"/>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323" autoAdjust="0"/>
  </p:normalViewPr>
  <p:slideViewPr>
    <p:cSldViewPr snapToGrid="0">
      <p:cViewPr varScale="1">
        <p:scale>
          <a:sx n="82" d="100"/>
          <a:sy n="82" d="100"/>
        </p:scale>
        <p:origin x="820" y="280"/>
      </p:cViewPr>
      <p:guideLst>
        <p:guide orient="horz" pos="1620"/>
        <p:guide pos="2880"/>
      </p:guideLst>
    </p:cSldViewPr>
  </p:slideViewPr>
  <p:notesTextViewPr>
    <p:cViewPr>
      <p:scale>
        <a:sx n="1" d="1"/>
        <a:sy n="1" d="1"/>
      </p:scale>
      <p:origin x="0" y="0"/>
    </p:cViewPr>
  </p:notesTextViewPr>
  <p:sorterViewPr>
    <p:cViewPr>
      <p:scale>
        <a:sx n="100" d="100"/>
        <a:sy n="100" d="100"/>
      </p:scale>
      <p:origin x="0" y="-22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1.xml"/><Relationship Id="rId21" Type="http://schemas.openxmlformats.org/officeDocument/2006/relationships/font" Target="fonts/font6.fntdata"/><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9.fntdata"/><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36"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font" Target="fonts/font4.fntdata"/><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35" Type="http://schemas.microsoft.com/office/2016/11/relationships/changesInfo" Target="changesInfos/changesInfo1.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envi, Ajit Ashok" userId="071e9822-93c4-49ff-b73c-8c6b3cb55e6c" providerId="ADAL" clId="{4B5B27F2-713A-4F3A-BEBD-4CA1B0C6DEF3}"/>
    <pc:docChg chg="undo custSel addSld delSld modSld sldOrd">
      <pc:chgData name="Shenvi, Ajit Ashok" userId="071e9822-93c4-49ff-b73c-8c6b3cb55e6c" providerId="ADAL" clId="{4B5B27F2-713A-4F3A-BEBD-4CA1B0C6DEF3}" dt="2026-04-19T13:49:16.007" v="2059" actId="20577"/>
      <pc:docMkLst>
        <pc:docMk/>
      </pc:docMkLst>
      <pc:sldChg chg="modSp mod">
        <pc:chgData name="Shenvi, Ajit Ashok" userId="071e9822-93c4-49ff-b73c-8c6b3cb55e6c" providerId="ADAL" clId="{4B5B27F2-713A-4F3A-BEBD-4CA1B0C6DEF3}" dt="2026-04-19T12:38:35.405" v="1974" actId="20577"/>
        <pc:sldMkLst>
          <pc:docMk/>
          <pc:sldMk cId="0" sldId="256"/>
        </pc:sldMkLst>
        <pc:spChg chg="mod">
          <ac:chgData name="Shenvi, Ajit Ashok" userId="071e9822-93c4-49ff-b73c-8c6b3cb55e6c" providerId="ADAL" clId="{4B5B27F2-713A-4F3A-BEBD-4CA1B0C6DEF3}" dt="2026-04-19T12:38:35.405" v="1974" actId="20577"/>
          <ac:spMkLst>
            <pc:docMk/>
            <pc:sldMk cId="0" sldId="256"/>
            <ac:spMk id="105" creationId="{00000000-0000-0000-0000-000000000000}"/>
          </ac:spMkLst>
        </pc:spChg>
        <pc:spChg chg="mod">
          <ac:chgData name="Shenvi, Ajit Ashok" userId="071e9822-93c4-49ff-b73c-8c6b3cb55e6c" providerId="ADAL" clId="{4B5B27F2-713A-4F3A-BEBD-4CA1B0C6DEF3}" dt="2026-04-05T09:50:38.516" v="1466" actId="113"/>
          <ac:spMkLst>
            <pc:docMk/>
            <pc:sldMk cId="0" sldId="256"/>
            <ac:spMk id="106" creationId="{00000000-0000-0000-0000-000000000000}"/>
          </ac:spMkLst>
        </pc:spChg>
        <pc:spChg chg="mod">
          <ac:chgData name="Shenvi, Ajit Ashok" userId="071e9822-93c4-49ff-b73c-8c6b3cb55e6c" providerId="ADAL" clId="{4B5B27F2-713A-4F3A-BEBD-4CA1B0C6DEF3}" dt="2026-04-19T08:28:04.896" v="1902" actId="20577"/>
          <ac:spMkLst>
            <pc:docMk/>
            <pc:sldMk cId="0" sldId="256"/>
            <ac:spMk id="107" creationId="{00000000-0000-0000-0000-000000000000}"/>
          </ac:spMkLst>
        </pc:spChg>
      </pc:sldChg>
      <pc:sldChg chg="addSp delSp modSp mod">
        <pc:chgData name="Shenvi, Ajit Ashok" userId="071e9822-93c4-49ff-b73c-8c6b3cb55e6c" providerId="ADAL" clId="{4B5B27F2-713A-4F3A-BEBD-4CA1B0C6DEF3}" dt="2026-04-19T08:32:21.034" v="1954" actId="1036"/>
        <pc:sldMkLst>
          <pc:docMk/>
          <pc:sldMk cId="2073152035" sldId="313"/>
        </pc:sldMkLst>
        <pc:spChg chg="add mod">
          <ac:chgData name="Shenvi, Ajit Ashok" userId="071e9822-93c4-49ff-b73c-8c6b3cb55e6c" providerId="ADAL" clId="{4B5B27F2-713A-4F3A-BEBD-4CA1B0C6DEF3}" dt="2026-04-04T17:00:48.618" v="306" actId="255"/>
          <ac:spMkLst>
            <pc:docMk/>
            <pc:sldMk cId="2073152035" sldId="313"/>
            <ac:spMk id="14" creationId="{A7295827-E3A6-8DAF-91D5-7C5D12190A5F}"/>
          </ac:spMkLst>
        </pc:spChg>
        <pc:spChg chg="add mod">
          <ac:chgData name="Shenvi, Ajit Ashok" userId="071e9822-93c4-49ff-b73c-8c6b3cb55e6c" providerId="ADAL" clId="{4B5B27F2-713A-4F3A-BEBD-4CA1B0C6DEF3}" dt="2026-04-04T17:07:51.590" v="374" actId="6549"/>
          <ac:spMkLst>
            <pc:docMk/>
            <pc:sldMk cId="2073152035" sldId="313"/>
            <ac:spMk id="18" creationId="{F6914803-4932-539D-66C1-EDE4CEA5023B}"/>
          </ac:spMkLst>
        </pc:spChg>
        <pc:spChg chg="add mod">
          <ac:chgData name="Shenvi, Ajit Ashok" userId="071e9822-93c4-49ff-b73c-8c6b3cb55e6c" providerId="ADAL" clId="{4B5B27F2-713A-4F3A-BEBD-4CA1B0C6DEF3}" dt="2026-04-19T08:32:21.034" v="1954" actId="1036"/>
          <ac:spMkLst>
            <pc:docMk/>
            <pc:sldMk cId="2073152035" sldId="313"/>
            <ac:spMk id="20" creationId="{71F30550-5B56-8F37-B0E7-58F7E3FE8EB2}"/>
          </ac:spMkLst>
        </pc:spChg>
      </pc:sldChg>
      <pc:sldChg chg="addSp delSp modSp mod">
        <pc:chgData name="Shenvi, Ajit Ashok" userId="071e9822-93c4-49ff-b73c-8c6b3cb55e6c" providerId="ADAL" clId="{4B5B27F2-713A-4F3A-BEBD-4CA1B0C6DEF3}" dt="2026-04-19T13:48:59.105" v="2058" actId="20577"/>
        <pc:sldMkLst>
          <pc:docMk/>
          <pc:sldMk cId="4151563092" sldId="315"/>
        </pc:sldMkLst>
        <pc:spChg chg="add mod">
          <ac:chgData name="Shenvi, Ajit Ashok" userId="071e9822-93c4-49ff-b73c-8c6b3cb55e6c" providerId="ADAL" clId="{4B5B27F2-713A-4F3A-BEBD-4CA1B0C6DEF3}" dt="2026-04-19T13:48:59.105" v="2058" actId="20577"/>
          <ac:spMkLst>
            <pc:docMk/>
            <pc:sldMk cId="4151563092" sldId="315"/>
            <ac:spMk id="2" creationId="{1AA55583-5454-85BD-0BB1-55A3B49C10CA}"/>
          </ac:spMkLst>
        </pc:spChg>
        <pc:spChg chg="add mod">
          <ac:chgData name="Shenvi, Ajit Ashok" userId="071e9822-93c4-49ff-b73c-8c6b3cb55e6c" providerId="ADAL" clId="{4B5B27F2-713A-4F3A-BEBD-4CA1B0C6DEF3}" dt="2026-04-19T08:34:08.856" v="1959" actId="1076"/>
          <ac:spMkLst>
            <pc:docMk/>
            <pc:sldMk cId="4151563092" sldId="315"/>
            <ac:spMk id="4" creationId="{2028DE92-3044-24E2-4AC4-22B3F64E3BF5}"/>
          </ac:spMkLst>
        </pc:spChg>
        <pc:spChg chg="mod">
          <ac:chgData name="Shenvi, Ajit Ashok" userId="071e9822-93c4-49ff-b73c-8c6b3cb55e6c" providerId="ADAL" clId="{4B5B27F2-713A-4F3A-BEBD-4CA1B0C6DEF3}" dt="2026-04-04T16:54:52.126" v="224" actId="21"/>
          <ac:spMkLst>
            <pc:docMk/>
            <pc:sldMk cId="4151563092" sldId="315"/>
            <ac:spMk id="21" creationId="{6C4646F7-853E-8A77-D73C-AFAA685E1B05}"/>
          </ac:spMkLst>
        </pc:spChg>
        <pc:spChg chg="mod">
          <ac:chgData name="Shenvi, Ajit Ashok" userId="071e9822-93c4-49ff-b73c-8c6b3cb55e6c" providerId="ADAL" clId="{4B5B27F2-713A-4F3A-BEBD-4CA1B0C6DEF3}" dt="2026-04-04T16:58:17.565" v="254" actId="20577"/>
          <ac:spMkLst>
            <pc:docMk/>
            <pc:sldMk cId="4151563092" sldId="315"/>
            <ac:spMk id="118" creationId="{B62E78FD-0D2C-0FE1-C79D-AAA1DC47D63C}"/>
          </ac:spMkLst>
        </pc:spChg>
      </pc:sldChg>
      <pc:sldChg chg="addSp delSp modSp add mod">
        <pc:chgData name="Shenvi, Ajit Ashok" userId="071e9822-93c4-49ff-b73c-8c6b3cb55e6c" providerId="ADAL" clId="{4B5B27F2-713A-4F3A-BEBD-4CA1B0C6DEF3}" dt="2026-04-05T03:28:47.335" v="891" actId="108"/>
        <pc:sldMkLst>
          <pc:docMk/>
          <pc:sldMk cId="819437661" sldId="317"/>
        </pc:sldMkLst>
        <pc:spChg chg="add mod">
          <ac:chgData name="Shenvi, Ajit Ashok" userId="071e9822-93c4-49ff-b73c-8c6b3cb55e6c" providerId="ADAL" clId="{4B5B27F2-713A-4F3A-BEBD-4CA1B0C6DEF3}" dt="2026-04-04T17:15:47.011" v="434" actId="1076"/>
          <ac:spMkLst>
            <pc:docMk/>
            <pc:sldMk cId="819437661" sldId="317"/>
            <ac:spMk id="4" creationId="{D041A9B2-3A21-8566-BADB-16264F93A692}"/>
          </ac:spMkLst>
        </pc:spChg>
        <pc:spChg chg="mod">
          <ac:chgData name="Shenvi, Ajit Ashok" userId="071e9822-93c4-49ff-b73c-8c6b3cb55e6c" providerId="ADAL" clId="{4B5B27F2-713A-4F3A-BEBD-4CA1B0C6DEF3}" dt="2026-04-05T03:28:47.335" v="891" actId="108"/>
          <ac:spMkLst>
            <pc:docMk/>
            <pc:sldMk cId="819437661" sldId="317"/>
            <ac:spMk id="14" creationId="{BA368B54-502C-01C8-751F-5A9B9104FE1B}"/>
          </ac:spMkLst>
        </pc:spChg>
        <pc:picChg chg="add mod">
          <ac:chgData name="Shenvi, Ajit Ashok" userId="071e9822-93c4-49ff-b73c-8c6b3cb55e6c" providerId="ADAL" clId="{4B5B27F2-713A-4F3A-BEBD-4CA1B0C6DEF3}" dt="2026-04-04T17:15:49.293" v="435" actId="1076"/>
          <ac:picMkLst>
            <pc:docMk/>
            <pc:sldMk cId="819437661" sldId="317"/>
            <ac:picMk id="10" creationId="{2C4D2ABB-0813-6479-63E8-3A11393BC4A9}"/>
          </ac:picMkLst>
        </pc:picChg>
      </pc:sldChg>
      <pc:sldChg chg="addSp delSp modSp add mod ord modClrScheme chgLayout">
        <pc:chgData name="Shenvi, Ajit Ashok" userId="071e9822-93c4-49ff-b73c-8c6b3cb55e6c" providerId="ADAL" clId="{4B5B27F2-713A-4F3A-BEBD-4CA1B0C6DEF3}" dt="2026-04-19T07:58:03.239" v="1662" actId="5793"/>
        <pc:sldMkLst>
          <pc:docMk/>
          <pc:sldMk cId="231832185" sldId="318"/>
        </pc:sldMkLst>
        <pc:spChg chg="add mod">
          <ac:chgData name="Shenvi, Ajit Ashok" userId="071e9822-93c4-49ff-b73c-8c6b3cb55e6c" providerId="ADAL" clId="{4B5B27F2-713A-4F3A-BEBD-4CA1B0C6DEF3}" dt="2026-04-19T07:58:03.239" v="1662" actId="5793"/>
          <ac:spMkLst>
            <pc:docMk/>
            <pc:sldMk cId="231832185" sldId="318"/>
            <ac:spMk id="3" creationId="{65996BE4-273B-5E3A-8A62-F6CC0E8B34A2}"/>
          </ac:spMkLst>
        </pc:spChg>
        <pc:spChg chg="mod">
          <ac:chgData name="Shenvi, Ajit Ashok" userId="071e9822-93c4-49ff-b73c-8c6b3cb55e6c" providerId="ADAL" clId="{4B5B27F2-713A-4F3A-BEBD-4CA1B0C6DEF3}" dt="2026-04-19T07:57:50.007" v="1660" actId="20577"/>
          <ac:spMkLst>
            <pc:docMk/>
            <pc:sldMk cId="231832185" sldId="318"/>
            <ac:spMk id="14" creationId="{A0DD6797-3D6D-B6A1-905D-CFD879EEB6D0}"/>
          </ac:spMkLst>
        </pc:spChg>
        <pc:graphicFrameChg chg="add mod modGraphic">
          <ac:chgData name="Shenvi, Ajit Ashok" userId="071e9822-93c4-49ff-b73c-8c6b3cb55e6c" providerId="ADAL" clId="{4B5B27F2-713A-4F3A-BEBD-4CA1B0C6DEF3}" dt="2026-04-19T07:57:59.771" v="1661" actId="1076"/>
          <ac:graphicFrameMkLst>
            <pc:docMk/>
            <pc:sldMk cId="231832185" sldId="318"/>
            <ac:graphicFrameMk id="2" creationId="{24EDCF51-CF38-B7BF-FB6F-D2DAE3797C49}"/>
          </ac:graphicFrameMkLst>
        </pc:graphicFrameChg>
      </pc:sldChg>
      <pc:sldChg chg="addSp delSp modSp add mod">
        <pc:chgData name="Shenvi, Ajit Ashok" userId="071e9822-93c4-49ff-b73c-8c6b3cb55e6c" providerId="ADAL" clId="{4B5B27F2-713A-4F3A-BEBD-4CA1B0C6DEF3}" dt="2026-04-19T12:38:10.484" v="1971" actId="948"/>
        <pc:sldMkLst>
          <pc:docMk/>
          <pc:sldMk cId="3834612093" sldId="319"/>
        </pc:sldMkLst>
        <pc:spChg chg="add mod">
          <ac:chgData name="Shenvi, Ajit Ashok" userId="071e9822-93c4-49ff-b73c-8c6b3cb55e6c" providerId="ADAL" clId="{4B5B27F2-713A-4F3A-BEBD-4CA1B0C6DEF3}" dt="2026-04-19T12:38:10.484" v="1971" actId="948"/>
          <ac:spMkLst>
            <pc:docMk/>
            <pc:sldMk cId="3834612093" sldId="319"/>
            <ac:spMk id="4" creationId="{C3E7CDF0-2122-1254-36E6-7381E01535B3}"/>
          </ac:spMkLst>
        </pc:spChg>
        <pc:spChg chg="mod">
          <ac:chgData name="Shenvi, Ajit Ashok" userId="071e9822-93c4-49ff-b73c-8c6b3cb55e6c" providerId="ADAL" clId="{4B5B27F2-713A-4F3A-BEBD-4CA1B0C6DEF3}" dt="2026-04-19T12:37:40.124" v="1964" actId="6549"/>
          <ac:spMkLst>
            <pc:docMk/>
            <pc:sldMk cId="3834612093" sldId="319"/>
            <ac:spMk id="14" creationId="{ECA7F8FD-884C-9B28-4A37-7EFB33A4AEF3}"/>
          </ac:spMkLst>
        </pc:spChg>
        <pc:graphicFrameChg chg="del mod modGraphic">
          <ac:chgData name="Shenvi, Ajit Ashok" userId="071e9822-93c4-49ff-b73c-8c6b3cb55e6c" providerId="ADAL" clId="{4B5B27F2-713A-4F3A-BEBD-4CA1B0C6DEF3}" dt="2026-04-19T12:37:43.955" v="1965" actId="478"/>
          <ac:graphicFrameMkLst>
            <pc:docMk/>
            <pc:sldMk cId="3834612093" sldId="319"/>
            <ac:graphicFrameMk id="2" creationId="{DA1F60B7-439E-D005-D00A-6A46107D9FCB}"/>
          </ac:graphicFrameMkLst>
        </pc:graphicFrameChg>
      </pc:sldChg>
      <pc:sldChg chg="delSp modSp add mod setBg">
        <pc:chgData name="Shenvi, Ajit Ashok" userId="071e9822-93c4-49ff-b73c-8c6b3cb55e6c" providerId="ADAL" clId="{4B5B27F2-713A-4F3A-BEBD-4CA1B0C6DEF3}" dt="2026-04-06T16:58:05.799" v="1568" actId="20577"/>
        <pc:sldMkLst>
          <pc:docMk/>
          <pc:sldMk cId="2763824697" sldId="320"/>
        </pc:sldMkLst>
        <pc:spChg chg="mod">
          <ac:chgData name="Shenvi, Ajit Ashok" userId="071e9822-93c4-49ff-b73c-8c6b3cb55e6c" providerId="ADAL" clId="{4B5B27F2-713A-4F3A-BEBD-4CA1B0C6DEF3}" dt="2026-04-05T03:29:12.945" v="897" actId="27636"/>
          <ac:spMkLst>
            <pc:docMk/>
            <pc:sldMk cId="2763824697" sldId="320"/>
            <ac:spMk id="14" creationId="{C2EEAD44-30ED-055A-4E69-7E51A38C2DB9}"/>
          </ac:spMkLst>
        </pc:spChg>
        <pc:graphicFrameChg chg="mod modGraphic">
          <ac:chgData name="Shenvi, Ajit Ashok" userId="071e9822-93c4-49ff-b73c-8c6b3cb55e6c" providerId="ADAL" clId="{4B5B27F2-713A-4F3A-BEBD-4CA1B0C6DEF3}" dt="2026-04-06T16:58:05.799" v="1568" actId="20577"/>
          <ac:graphicFrameMkLst>
            <pc:docMk/>
            <pc:sldMk cId="2763824697" sldId="320"/>
            <ac:graphicFrameMk id="2" creationId="{5C3D2768-E5DB-8FB2-9210-F7C22DF63859}"/>
          </ac:graphicFrameMkLst>
        </pc:graphicFrameChg>
      </pc:sldChg>
      <pc:sldChg chg="addSp delSp modSp add mod">
        <pc:chgData name="Shenvi, Ajit Ashok" userId="071e9822-93c4-49ff-b73c-8c6b3cb55e6c" providerId="ADAL" clId="{4B5B27F2-713A-4F3A-BEBD-4CA1B0C6DEF3}" dt="2026-04-05T04:57:42.889" v="974" actId="20577"/>
        <pc:sldMkLst>
          <pc:docMk/>
          <pc:sldMk cId="4073041033" sldId="321"/>
        </pc:sldMkLst>
        <pc:spChg chg="mod">
          <ac:chgData name="Shenvi, Ajit Ashok" userId="071e9822-93c4-49ff-b73c-8c6b3cb55e6c" providerId="ADAL" clId="{4B5B27F2-713A-4F3A-BEBD-4CA1B0C6DEF3}" dt="2026-04-05T04:46:37.719" v="911" actId="6549"/>
          <ac:spMkLst>
            <pc:docMk/>
            <pc:sldMk cId="4073041033" sldId="321"/>
            <ac:spMk id="14" creationId="{58F7CC11-0B41-3F5D-7B9A-6819C5656694}"/>
          </ac:spMkLst>
        </pc:spChg>
        <pc:graphicFrameChg chg="add mod modGraphic">
          <ac:chgData name="Shenvi, Ajit Ashok" userId="071e9822-93c4-49ff-b73c-8c6b3cb55e6c" providerId="ADAL" clId="{4B5B27F2-713A-4F3A-BEBD-4CA1B0C6DEF3}" dt="2026-04-05T04:57:42.889" v="974" actId="20577"/>
          <ac:graphicFrameMkLst>
            <pc:docMk/>
            <pc:sldMk cId="4073041033" sldId="321"/>
            <ac:graphicFrameMk id="2" creationId="{BE0FD090-F7AB-132A-EAB9-1561E9947D71}"/>
          </ac:graphicFrameMkLst>
        </pc:graphicFrameChg>
      </pc:sldChg>
      <pc:sldChg chg="addSp delSp modSp add mod">
        <pc:chgData name="Shenvi, Ajit Ashok" userId="071e9822-93c4-49ff-b73c-8c6b3cb55e6c" providerId="ADAL" clId="{4B5B27F2-713A-4F3A-BEBD-4CA1B0C6DEF3}" dt="2026-04-19T08:25:55.286" v="1900" actId="255"/>
        <pc:sldMkLst>
          <pc:docMk/>
          <pc:sldMk cId="3358355317" sldId="322"/>
        </pc:sldMkLst>
        <pc:spChg chg="add del mod">
          <ac:chgData name="Shenvi, Ajit Ashok" userId="071e9822-93c4-49ff-b73c-8c6b3cb55e6c" providerId="ADAL" clId="{4B5B27F2-713A-4F3A-BEBD-4CA1B0C6DEF3}" dt="2026-04-19T08:15:06.906" v="1802" actId="21"/>
          <ac:spMkLst>
            <pc:docMk/>
            <pc:sldMk cId="3358355317" sldId="322"/>
            <ac:spMk id="3" creationId="{C6B29332-EF6C-3DBE-C48C-BDBF59E7FC79}"/>
          </ac:spMkLst>
        </pc:spChg>
        <pc:spChg chg="mod">
          <ac:chgData name="Shenvi, Ajit Ashok" userId="071e9822-93c4-49ff-b73c-8c6b3cb55e6c" providerId="ADAL" clId="{4B5B27F2-713A-4F3A-BEBD-4CA1B0C6DEF3}" dt="2026-04-06T07:49:01.252" v="1498" actId="20577"/>
          <ac:spMkLst>
            <pc:docMk/>
            <pc:sldMk cId="3358355317" sldId="322"/>
            <ac:spMk id="14" creationId="{CD17FCC2-C595-F800-89A9-9876F24B45D1}"/>
          </ac:spMkLst>
        </pc:spChg>
        <pc:graphicFrameChg chg="add mod modGraphic">
          <ac:chgData name="Shenvi, Ajit Ashok" userId="071e9822-93c4-49ff-b73c-8c6b3cb55e6c" providerId="ADAL" clId="{4B5B27F2-713A-4F3A-BEBD-4CA1B0C6DEF3}" dt="2026-04-19T08:25:55.286" v="1900" actId="255"/>
          <ac:graphicFrameMkLst>
            <pc:docMk/>
            <pc:sldMk cId="3358355317" sldId="322"/>
            <ac:graphicFrameMk id="4" creationId="{C13F6584-F919-847B-699D-85616404DD2B}"/>
          </ac:graphicFrameMkLst>
        </pc:graphicFrameChg>
        <pc:picChg chg="add mod">
          <ac:chgData name="Shenvi, Ajit Ashok" userId="071e9822-93c4-49ff-b73c-8c6b3cb55e6c" providerId="ADAL" clId="{4B5B27F2-713A-4F3A-BEBD-4CA1B0C6DEF3}" dt="2026-04-19T08:22:29.098" v="1868" actId="14100"/>
          <ac:picMkLst>
            <pc:docMk/>
            <pc:sldMk cId="3358355317" sldId="322"/>
            <ac:picMk id="6" creationId="{6EA316B5-77D8-0F27-5129-4819F7B41ED4}"/>
          </ac:picMkLst>
        </pc:picChg>
        <pc:picChg chg="add mod">
          <ac:chgData name="Shenvi, Ajit Ashok" userId="071e9822-93c4-49ff-b73c-8c6b3cb55e6c" providerId="ADAL" clId="{4B5B27F2-713A-4F3A-BEBD-4CA1B0C6DEF3}" dt="2026-04-19T08:17:40.516" v="1828" actId="1076"/>
          <ac:picMkLst>
            <pc:docMk/>
            <pc:sldMk cId="3358355317" sldId="322"/>
            <ac:picMk id="7" creationId="{CDDF154A-B929-37F3-0EE7-EE19E911114A}"/>
          </ac:picMkLst>
        </pc:picChg>
        <pc:picChg chg="del mod">
          <ac:chgData name="Shenvi, Ajit Ashok" userId="071e9822-93c4-49ff-b73c-8c6b3cb55e6c" providerId="ADAL" clId="{4B5B27F2-713A-4F3A-BEBD-4CA1B0C6DEF3}" dt="2026-04-19T08:15:52.448" v="1816" actId="478"/>
          <ac:picMkLst>
            <pc:docMk/>
            <pc:sldMk cId="3358355317" sldId="322"/>
            <ac:picMk id="8" creationId="{BC6DC89C-F922-525F-C760-9E52C1CBFBC1}"/>
          </ac:picMkLst>
        </pc:picChg>
        <pc:picChg chg="add mod">
          <ac:chgData name="Shenvi, Ajit Ashok" userId="071e9822-93c4-49ff-b73c-8c6b3cb55e6c" providerId="ADAL" clId="{4B5B27F2-713A-4F3A-BEBD-4CA1B0C6DEF3}" dt="2026-04-19T08:16:38.738" v="1821" actId="14100"/>
          <ac:picMkLst>
            <pc:docMk/>
            <pc:sldMk cId="3358355317" sldId="322"/>
            <ac:picMk id="10" creationId="{1F31CFD9-5CDE-AFC7-D2A3-A80A06B78C6D}"/>
          </ac:picMkLst>
        </pc:picChg>
      </pc:sldChg>
      <pc:sldChg chg="addSp delSp modSp add mod">
        <pc:chgData name="Shenvi, Ajit Ashok" userId="071e9822-93c4-49ff-b73c-8c6b3cb55e6c" providerId="ADAL" clId="{4B5B27F2-713A-4F3A-BEBD-4CA1B0C6DEF3}" dt="2026-04-19T13:31:22.107" v="2043" actId="20577"/>
        <pc:sldMkLst>
          <pc:docMk/>
          <pc:sldMk cId="2826133307" sldId="323"/>
        </pc:sldMkLst>
        <pc:spChg chg="mod">
          <ac:chgData name="Shenvi, Ajit Ashok" userId="071e9822-93c4-49ff-b73c-8c6b3cb55e6c" providerId="ADAL" clId="{4B5B27F2-713A-4F3A-BEBD-4CA1B0C6DEF3}" dt="2026-04-19T13:31:22.107" v="2043" actId="20577"/>
          <ac:spMkLst>
            <pc:docMk/>
            <pc:sldMk cId="2826133307" sldId="323"/>
            <ac:spMk id="3" creationId="{89DE03BC-2089-6909-6043-3E955C1F6188}"/>
          </ac:spMkLst>
        </pc:spChg>
        <pc:graphicFrameChg chg="add mod modGraphic">
          <ac:chgData name="Shenvi, Ajit Ashok" userId="071e9822-93c4-49ff-b73c-8c6b3cb55e6c" providerId="ADAL" clId="{4B5B27F2-713A-4F3A-BEBD-4CA1B0C6DEF3}" dt="2026-04-17T18:12:49.129" v="1601" actId="207"/>
          <ac:graphicFrameMkLst>
            <pc:docMk/>
            <pc:sldMk cId="2826133307" sldId="323"/>
            <ac:graphicFrameMk id="4" creationId="{38B304CE-39B9-7C2D-D460-67D55B52E62A}"/>
          </ac:graphicFrameMkLst>
        </pc:graphicFrameChg>
      </pc:sldChg>
      <pc:sldChg chg="delSp modSp add mod ord">
        <pc:chgData name="Shenvi, Ajit Ashok" userId="071e9822-93c4-49ff-b73c-8c6b3cb55e6c" providerId="ADAL" clId="{4B5B27F2-713A-4F3A-BEBD-4CA1B0C6DEF3}" dt="2026-04-19T13:49:16.007" v="2059" actId="20577"/>
        <pc:sldMkLst>
          <pc:docMk/>
          <pc:sldMk cId="3440897308" sldId="324"/>
        </pc:sldMkLst>
        <pc:spChg chg="del">
          <ac:chgData name="Shenvi, Ajit Ashok" userId="071e9822-93c4-49ff-b73c-8c6b3cb55e6c" providerId="ADAL" clId="{4B5B27F2-713A-4F3A-BEBD-4CA1B0C6DEF3}" dt="2026-04-19T12:37:21.747" v="1963" actId="478"/>
          <ac:spMkLst>
            <pc:docMk/>
            <pc:sldMk cId="3440897308" sldId="324"/>
            <ac:spMk id="4" creationId="{DCE04694-8E24-C842-2B26-BDC8FD9BF21D}"/>
          </ac:spMkLst>
        </pc:spChg>
        <pc:spChg chg="mod">
          <ac:chgData name="Shenvi, Ajit Ashok" userId="071e9822-93c4-49ff-b73c-8c6b3cb55e6c" providerId="ADAL" clId="{4B5B27F2-713A-4F3A-BEBD-4CA1B0C6DEF3}" dt="2026-04-19T12:37:19.302" v="1962" actId="6549"/>
          <ac:spMkLst>
            <pc:docMk/>
            <pc:sldMk cId="3440897308" sldId="324"/>
            <ac:spMk id="14" creationId="{8C81BD7C-F008-3174-5E25-19D216C209FB}"/>
          </ac:spMkLst>
        </pc:spChg>
        <pc:graphicFrameChg chg="modGraphic">
          <ac:chgData name="Shenvi, Ajit Ashok" userId="071e9822-93c4-49ff-b73c-8c6b3cb55e6c" providerId="ADAL" clId="{4B5B27F2-713A-4F3A-BEBD-4CA1B0C6DEF3}" dt="2026-04-19T13:49:16.007" v="2059" actId="20577"/>
          <ac:graphicFrameMkLst>
            <pc:docMk/>
            <pc:sldMk cId="3440897308" sldId="324"/>
            <ac:graphicFrameMk id="2" creationId="{9048A87D-8B68-F177-516E-66F73E2D5C32}"/>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 name="Google Shape;10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6B331DB-B6DA-1722-94C9-2ED6D72A3DF3}"/>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0E74F643-5306-7647-B7EC-96612036D9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p3:notes">
            <a:extLst>
              <a:ext uri="{FF2B5EF4-FFF2-40B4-BE49-F238E27FC236}">
                <a16:creationId xmlns:a16="http://schemas.microsoft.com/office/drawing/2014/main" id="{ACB18C76-7E32-70B1-7E57-6129A122B79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747232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C4F7296-9567-BB20-5F33-A3878D545123}"/>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6A6E3586-5612-1C0E-6D73-4D90B80995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p3:notes">
            <a:extLst>
              <a:ext uri="{FF2B5EF4-FFF2-40B4-BE49-F238E27FC236}">
                <a16:creationId xmlns:a16="http://schemas.microsoft.com/office/drawing/2014/main" id="{A5FDEA66-8604-63B2-3F46-5437A6D4A52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572467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539BDCF-5EDD-12C1-0E74-38DD92DEBCAB}"/>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3784B60B-4214-92F4-80B1-8447AC3C1F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p3:notes">
            <a:extLst>
              <a:ext uri="{FF2B5EF4-FFF2-40B4-BE49-F238E27FC236}">
                <a16:creationId xmlns:a16="http://schemas.microsoft.com/office/drawing/2014/main" id="{065A20DA-388C-03DB-E2D0-D3392DCF0D0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428296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FB38ADE-101D-43DC-CE84-D43D52E48FEF}"/>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5136D7EE-59F5-F50E-83A7-35A691CC60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p3:notes">
            <a:extLst>
              <a:ext uri="{FF2B5EF4-FFF2-40B4-BE49-F238E27FC236}">
                <a16:creationId xmlns:a16="http://schemas.microsoft.com/office/drawing/2014/main" id="{E1C8E3FA-1C64-FF4D-B1EA-0E2407B0FD4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819333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2B376DA-CC2D-6F11-5858-1F1F2B216E42}"/>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E59C4978-7B30-083F-F712-AF9C437EB9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p3:notes">
            <a:extLst>
              <a:ext uri="{FF2B5EF4-FFF2-40B4-BE49-F238E27FC236}">
                <a16:creationId xmlns:a16="http://schemas.microsoft.com/office/drawing/2014/main" id="{1EFF3D31-5464-117F-0AF7-1CB9718FDF2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332673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EC7EF71-817E-C847-64C3-99961CF4DDAA}"/>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6EE9B475-CF40-FD0B-83E7-3B80F53F24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p3:notes">
            <a:extLst>
              <a:ext uri="{FF2B5EF4-FFF2-40B4-BE49-F238E27FC236}">
                <a16:creationId xmlns:a16="http://schemas.microsoft.com/office/drawing/2014/main" id="{27117B45-D214-001F-23D2-ECC1ED551DD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63406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CB30349-0A42-F56E-1FC1-E7F5D1F06EE5}"/>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5F4C934E-856D-EDB5-CA50-CA61F580F5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p3:notes">
            <a:extLst>
              <a:ext uri="{FF2B5EF4-FFF2-40B4-BE49-F238E27FC236}">
                <a16:creationId xmlns:a16="http://schemas.microsoft.com/office/drawing/2014/main" id="{B227C073-28AC-1CA5-AD61-89E7789DB98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071233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171F2FF-4092-D8A8-97CB-4AF410377704}"/>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26871957-DF49-B7A6-A351-D5B1A59F20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p3:notes">
            <a:extLst>
              <a:ext uri="{FF2B5EF4-FFF2-40B4-BE49-F238E27FC236}">
                <a16:creationId xmlns:a16="http://schemas.microsoft.com/office/drawing/2014/main" id="{E576CD50-5EC4-4E85-32BE-317DAE67E4C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589540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993C03E-53E7-486B-6ADC-5DA5479005F4}"/>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15675BEB-81B9-D2E5-9E70-16E4C6AA28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p3:notes">
            <a:extLst>
              <a:ext uri="{FF2B5EF4-FFF2-40B4-BE49-F238E27FC236}">
                <a16:creationId xmlns:a16="http://schemas.microsoft.com/office/drawing/2014/main" id="{6750D202-F0B6-1DE5-8B2D-A6523DC8AA5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326578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DA12D29-8927-99D9-694D-932BB4F06654}"/>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D9B0D816-DFC2-43E5-34C7-A82CFBE170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p3:notes">
            <a:extLst>
              <a:ext uri="{FF2B5EF4-FFF2-40B4-BE49-F238E27FC236}">
                <a16:creationId xmlns:a16="http://schemas.microsoft.com/office/drawing/2014/main" id="{7B37CDAC-4F0E-6B31-A34C-664BB7F8DE4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407385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7" name="Google Shape;15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chemeClr val="dk1"/>
                </a:solidFill>
                <a:latin typeface="Calibri"/>
                <a:ea typeface="Calibri"/>
                <a:cs typeface="Calibri"/>
                <a:sym typeface="Calibri"/>
              </a:rPr>
              <a:t>12</a:t>
            </a:fld>
            <a:endParaRPr sz="1200" b="0" i="0" u="none" strike="noStrike" cap="none">
              <a:solidFill>
                <a:schemeClr val="dk1"/>
              </a:solidFill>
              <a:latin typeface="Calibri"/>
              <a:ea typeface="Calibri"/>
              <a:cs typeface="Calibri"/>
              <a:sym typeface="Calibri"/>
            </a:endParaRPr>
          </a:p>
        </p:txBody>
      </p:sp>
      <p:sp>
        <p:nvSpPr>
          <p:cNvPr id="159" name="Google Shape;159;p11: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 Proprietary content. ©Great Learning. All Rights Reserved. Unauthorized use or distribution prohibited</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
        <p:cNvGrpSpPr/>
        <p:nvPr/>
      </p:nvGrpSpPr>
      <p:grpSpPr>
        <a:xfrm>
          <a:off x="0" y="0"/>
          <a:ext cx="0" cy="0"/>
          <a:chOff x="0" y="0"/>
          <a:chExt cx="0" cy="0"/>
        </a:xfrm>
      </p:grpSpPr>
      <p:sp>
        <p:nvSpPr>
          <p:cNvPr id="15" name="Google Shape;15;p2"/>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16" name="Google Shape;16;p2"/>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9" name="Google Shape;19;p3"/>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20" name="Google Shape;20;p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23" name="Google Shape;23;p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26" name="Google Shape;26;p5"/>
          <p:cNvGraphicFramePr/>
          <p:nvPr/>
        </p:nvGraphicFramePr>
        <p:xfrm>
          <a:off x="201942" y="833662"/>
          <a:ext cx="3000000" cy="3000000"/>
        </p:xfrm>
        <a:graphic>
          <a:graphicData uri="http://schemas.openxmlformats.org/drawingml/2006/table">
            <a:tbl>
              <a:tblPr firstRow="1" bandRow="1">
                <a:noFill/>
                <a:tableStyleId>{60BA267F-57BB-4B82-9B38-EB87E1CD43B7}</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27" name="Google Shape;27;p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30" name="Google Shape;30;p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p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2" name="Google Shape;32;p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35" name="Google Shape;35;p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8" name="Google Shape;38;p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2" name="Google Shape;42;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3" name="Google Shape;43;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44" name="Google Shape;44;p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
        <p:cNvGrpSpPr/>
        <p:nvPr/>
      </p:nvGrpSpPr>
      <p:grpSpPr>
        <a:xfrm>
          <a:off x="0" y="0"/>
          <a:ext cx="0" cy="0"/>
          <a:chOff x="0" y="0"/>
          <a:chExt cx="0" cy="0"/>
        </a:xfrm>
      </p:grpSpPr>
      <p:sp>
        <p:nvSpPr>
          <p:cNvPr id="46" name="Google Shape;46;p1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47"/>
        <p:cNvGrpSpPr/>
        <p:nvPr/>
      </p:nvGrpSpPr>
      <p:grpSpPr>
        <a:xfrm>
          <a:off x="0" y="0"/>
          <a:ext cx="0" cy="0"/>
          <a:chOff x="0" y="0"/>
          <a:chExt cx="0" cy="0"/>
        </a:xfrm>
      </p:grpSpPr>
      <p:sp>
        <p:nvSpPr>
          <p:cNvPr id="48" name="Google Shape;48;p11"/>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49" name="Google Shape;49;p11" descr="A close up of a logo&#10;&#10;Description automatically generated"/>
          <p:cNvPicPr preferRelativeResize="0"/>
          <p:nvPr/>
        </p:nvPicPr>
        <p:blipFill rotWithShape="1">
          <a:blip r:embed="rId2">
            <a:alphaModFix/>
          </a:blip>
          <a:srcRect l="42816" t="18358" r="37295" b="19150"/>
          <a:stretch/>
        </p:blipFill>
        <p:spPr>
          <a:xfrm>
            <a:off x="6052536" y="514443"/>
            <a:ext cx="2095112" cy="3703320"/>
          </a:xfrm>
          <a:prstGeom prst="rect">
            <a:avLst/>
          </a:prstGeom>
          <a:noFill/>
          <a:ln>
            <a:noFill/>
          </a:ln>
        </p:spPr>
      </p:pic>
      <p:sp>
        <p:nvSpPr>
          <p:cNvPr id="50" name="Google Shape;50;p11"/>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51" name="Google Shape;51;p11"/>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52" name="Google Shape;52;p11"/>
          <p:cNvPicPr preferRelativeResize="0"/>
          <p:nvPr/>
        </p:nvPicPr>
        <p:blipFill rotWithShape="1">
          <a:blip r:embed="rId3">
            <a:alphaModFix/>
          </a:blip>
          <a:srcRect/>
          <a:stretch/>
        </p:blipFill>
        <p:spPr>
          <a:xfrm>
            <a:off x="295874" y="683275"/>
            <a:ext cx="3757725" cy="8258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62"/>
        <p:cNvGrpSpPr/>
        <p:nvPr/>
      </p:nvGrpSpPr>
      <p:grpSpPr>
        <a:xfrm>
          <a:off x="0" y="0"/>
          <a:ext cx="0" cy="0"/>
          <a:chOff x="0" y="0"/>
          <a:chExt cx="0" cy="0"/>
        </a:xfrm>
      </p:grpSpPr>
      <p:sp>
        <p:nvSpPr>
          <p:cNvPr id="63" name="Google Shape;63;p13"/>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64" name="Google Shape;64;p13" descr="A close up of a logo&#10;&#10;Description automatically generated"/>
          <p:cNvPicPr preferRelativeResize="0"/>
          <p:nvPr/>
        </p:nvPicPr>
        <p:blipFill rotWithShape="1">
          <a:blip r:embed="rId2">
            <a:alphaModFix/>
          </a:blip>
          <a:srcRect l="42816" t="18358" r="37295" b="19150"/>
          <a:stretch/>
        </p:blipFill>
        <p:spPr>
          <a:xfrm>
            <a:off x="6052536" y="514443"/>
            <a:ext cx="2095112" cy="3703320"/>
          </a:xfrm>
          <a:prstGeom prst="rect">
            <a:avLst/>
          </a:prstGeom>
          <a:noFill/>
          <a:ln>
            <a:noFill/>
          </a:ln>
        </p:spPr>
      </p:pic>
      <p:sp>
        <p:nvSpPr>
          <p:cNvPr id="65" name="Google Shape;65;p13"/>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66" name="Google Shape;66;p13"/>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67" name="Google Shape;67;p13"/>
          <p:cNvPicPr preferRelativeResize="0"/>
          <p:nvPr/>
        </p:nvPicPr>
        <p:blipFill rotWithShape="1">
          <a:blip r:embed="rId3">
            <a:alphaModFix/>
          </a:blip>
          <a:srcRect/>
          <a:stretch/>
        </p:blipFill>
        <p:spPr>
          <a:xfrm>
            <a:off x="421875" y="769949"/>
            <a:ext cx="3071452" cy="12612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8"/>
        <p:cNvGrpSpPr/>
        <p:nvPr/>
      </p:nvGrpSpPr>
      <p:grpSpPr>
        <a:xfrm>
          <a:off x="0" y="0"/>
          <a:ext cx="0" cy="0"/>
          <a:chOff x="0" y="0"/>
          <a:chExt cx="0" cy="0"/>
        </a:xfrm>
      </p:grpSpPr>
      <p:sp>
        <p:nvSpPr>
          <p:cNvPr id="69" name="Google Shape;69;p14"/>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70" name="Google Shape;70;p14"/>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1"/>
        <p:cNvGrpSpPr/>
        <p:nvPr/>
      </p:nvGrpSpPr>
      <p:grpSpPr>
        <a:xfrm>
          <a:off x="0" y="0"/>
          <a:ext cx="0" cy="0"/>
          <a:chOff x="0" y="0"/>
          <a:chExt cx="0" cy="0"/>
        </a:xfrm>
      </p:grpSpPr>
      <p:sp>
        <p:nvSpPr>
          <p:cNvPr id="72" name="Google Shape;72;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73" name="Google Shape;73;p1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74"/>
        <p:cNvGrpSpPr/>
        <p:nvPr/>
      </p:nvGrpSpPr>
      <p:grpSpPr>
        <a:xfrm>
          <a:off x="0" y="0"/>
          <a:ext cx="0" cy="0"/>
          <a:chOff x="0" y="0"/>
          <a:chExt cx="0" cy="0"/>
        </a:xfrm>
      </p:grpSpPr>
      <p:sp>
        <p:nvSpPr>
          <p:cNvPr id="75" name="Google Shape;75;p16"/>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76" name="Google Shape;76;p16"/>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77" name="Google Shape;77;p1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80" name="Google Shape;80;p17"/>
          <p:cNvGraphicFramePr/>
          <p:nvPr/>
        </p:nvGraphicFramePr>
        <p:xfrm>
          <a:off x="201942" y="833662"/>
          <a:ext cx="3000000" cy="3000000"/>
        </p:xfrm>
        <a:graphic>
          <a:graphicData uri="http://schemas.openxmlformats.org/drawingml/2006/table">
            <a:tbl>
              <a:tblPr firstRow="1" bandRow="1">
                <a:noFill/>
                <a:tableStyleId>{60BA267F-57BB-4B82-9B38-EB87E1CD43B7}</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81" name="Google Shape;81;p1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82"/>
        <p:cNvGrpSpPr/>
        <p:nvPr/>
      </p:nvGrpSpPr>
      <p:grpSpPr>
        <a:xfrm>
          <a:off x="0" y="0"/>
          <a:ext cx="0" cy="0"/>
          <a:chOff x="0" y="0"/>
          <a:chExt cx="0" cy="0"/>
        </a:xfrm>
      </p:grpSpPr>
      <p:sp>
        <p:nvSpPr>
          <p:cNvPr id="83" name="Google Shape;83;p18"/>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84" name="Google Shape;84;p1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85" name="Google Shape;85;p1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86" name="Google Shape;86;p1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7"/>
        <p:cNvGrpSpPr/>
        <p:nvPr/>
      </p:nvGrpSpPr>
      <p:grpSpPr>
        <a:xfrm>
          <a:off x="0" y="0"/>
          <a:ext cx="0" cy="0"/>
          <a:chOff x="0" y="0"/>
          <a:chExt cx="0" cy="0"/>
        </a:xfrm>
      </p:grpSpPr>
      <p:sp>
        <p:nvSpPr>
          <p:cNvPr id="88" name="Google Shape;88;p19"/>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89" name="Google Shape;89;p1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90"/>
        <p:cNvGrpSpPr/>
        <p:nvPr/>
      </p:nvGrpSpPr>
      <p:grpSpPr>
        <a:xfrm>
          <a:off x="0" y="0"/>
          <a:ext cx="0" cy="0"/>
          <a:chOff x="0" y="0"/>
          <a:chExt cx="0" cy="0"/>
        </a:xfrm>
      </p:grpSpPr>
      <p:sp>
        <p:nvSpPr>
          <p:cNvPr id="91" name="Google Shape;91;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92" name="Google Shape;92;p2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3"/>
        <p:cNvGrpSpPr/>
        <p:nvPr/>
      </p:nvGrpSpPr>
      <p:grpSpPr>
        <a:xfrm>
          <a:off x="0" y="0"/>
          <a:ext cx="0" cy="0"/>
          <a:chOff x="0" y="0"/>
          <a:chExt cx="0" cy="0"/>
        </a:xfrm>
      </p:grpSpPr>
      <p:sp>
        <p:nvSpPr>
          <p:cNvPr id="94" name="Google Shape;94;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96" name="Google Shape;96;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97" name="Google Shape;97;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98" name="Google Shape;98;p2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9"/>
        <p:cNvGrpSpPr/>
        <p:nvPr/>
      </p:nvGrpSpPr>
      <p:grpSpPr>
        <a:xfrm>
          <a:off x="0" y="0"/>
          <a:ext cx="0" cy="0"/>
          <a:chOff x="0" y="0"/>
          <a:chExt cx="0" cy="0"/>
        </a:xfrm>
      </p:grpSpPr>
      <p:sp>
        <p:nvSpPr>
          <p:cNvPr id="100" name="Google Shape;100;p2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image" Target="../media/image1.pn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7" name="Google Shape;7;p1"/>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8" name="Google Shape;8;p1"/>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9" name="Google Shape;9;p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10" name="Google Shape;10;p1"/>
          <p:cNvPicPr preferRelativeResize="0"/>
          <p:nvPr/>
        </p:nvPicPr>
        <p:blipFill rotWithShape="1">
          <a:blip r:embed="rId12">
            <a:alphaModFix/>
          </a:blip>
          <a:srcRect/>
          <a:stretch/>
        </p:blipFill>
        <p:spPr>
          <a:xfrm>
            <a:off x="7669500" y="68264"/>
            <a:ext cx="1395476" cy="572701"/>
          </a:xfrm>
          <a:prstGeom prst="rect">
            <a:avLst/>
          </a:prstGeom>
          <a:noFill/>
          <a:ln>
            <a:noFill/>
          </a:ln>
        </p:spPr>
      </p:pic>
      <p:grpSp>
        <p:nvGrpSpPr>
          <p:cNvPr id="11" name="Google Shape;11;p1"/>
          <p:cNvGrpSpPr/>
          <p:nvPr/>
        </p:nvGrpSpPr>
        <p:grpSpPr>
          <a:xfrm>
            <a:off x="6593" y="10"/>
            <a:ext cx="175500" cy="709221"/>
            <a:chOff x="6593" y="10"/>
            <a:chExt cx="175500" cy="709221"/>
          </a:xfrm>
        </p:grpSpPr>
        <p:sp>
          <p:nvSpPr>
            <p:cNvPr id="12" name="Google Shape;12;p1"/>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1"/>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3"/>
        <p:cNvGrpSpPr/>
        <p:nvPr/>
      </p:nvGrpSpPr>
      <p:grpSpPr>
        <a:xfrm>
          <a:off x="0" y="0"/>
          <a:ext cx="0" cy="0"/>
          <a:chOff x="0" y="0"/>
          <a:chExt cx="0" cy="0"/>
        </a:xfrm>
      </p:grpSpPr>
      <p:sp>
        <p:nvSpPr>
          <p:cNvPr id="54" name="Google Shape;54;p12"/>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55" name="Google Shape;55;p12"/>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56" name="Google Shape;56;p12"/>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57" name="Google Shape;57;p1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58" name="Google Shape;58;p12"/>
          <p:cNvPicPr preferRelativeResize="0"/>
          <p:nvPr/>
        </p:nvPicPr>
        <p:blipFill rotWithShape="1">
          <a:blip r:embed="rId12">
            <a:alphaModFix/>
          </a:blip>
          <a:srcRect/>
          <a:stretch/>
        </p:blipFill>
        <p:spPr>
          <a:xfrm>
            <a:off x="7669500" y="68264"/>
            <a:ext cx="1395476" cy="572701"/>
          </a:xfrm>
          <a:prstGeom prst="rect">
            <a:avLst/>
          </a:prstGeom>
          <a:noFill/>
          <a:ln>
            <a:noFill/>
          </a:ln>
        </p:spPr>
      </p:pic>
      <p:grpSp>
        <p:nvGrpSpPr>
          <p:cNvPr id="59" name="Google Shape;59;p12"/>
          <p:cNvGrpSpPr/>
          <p:nvPr/>
        </p:nvGrpSpPr>
        <p:grpSpPr>
          <a:xfrm>
            <a:off x="6593" y="10"/>
            <a:ext cx="175500" cy="709221"/>
            <a:chOff x="6593" y="10"/>
            <a:chExt cx="175500" cy="709221"/>
          </a:xfrm>
        </p:grpSpPr>
        <p:sp>
          <p:nvSpPr>
            <p:cNvPr id="60" name="Google Shape;60;p12"/>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12"/>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Lst>
  <mc:AlternateContent xmlns:mc="http://schemas.openxmlformats.org/markup-compatibility/2006" xmlns:p14="http://schemas.microsoft.com/office/powerpoint/2010/main">
    <mc:Choice Requires="p14">
      <p:transition p14:dur="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archive.ics.uci.edu/dataset/296/diabetes+130-us+hospitals+for+years+1999-2008"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themeOverride" Target="../theme/themeOverride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3"/>
          <p:cNvSpPr txBox="1">
            <a:spLocks noGrp="1"/>
          </p:cNvSpPr>
          <p:nvPr>
            <p:ph type="ctrTitle"/>
          </p:nvPr>
        </p:nvSpPr>
        <p:spPr>
          <a:xfrm>
            <a:off x="1158149" y="825445"/>
            <a:ext cx="6999087" cy="1211697"/>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3600" dirty="0"/>
              <a:t>Capstone project :</a:t>
            </a:r>
            <a:br>
              <a:rPr lang="en" sz="3600" dirty="0"/>
            </a:br>
            <a:r>
              <a:rPr lang="en" sz="3600" dirty="0"/>
              <a:t>Mentor discussion-2</a:t>
            </a:r>
            <a:endParaRPr sz="3600" dirty="0"/>
          </a:p>
        </p:txBody>
      </p:sp>
      <p:sp>
        <p:nvSpPr>
          <p:cNvPr id="106" name="Google Shape;106;p23"/>
          <p:cNvSpPr txBox="1">
            <a:spLocks noGrp="1"/>
          </p:cNvSpPr>
          <p:nvPr>
            <p:ph type="ctrTitle"/>
          </p:nvPr>
        </p:nvSpPr>
        <p:spPr>
          <a:xfrm>
            <a:off x="1220142" y="2417658"/>
            <a:ext cx="7638622" cy="1397599"/>
          </a:xfrm>
          <a:prstGeom prst="rect">
            <a:avLst/>
          </a:prstGeom>
          <a:noFill/>
          <a:ln>
            <a:noFill/>
          </a:ln>
        </p:spPr>
        <p:txBody>
          <a:bodyPr spcFirstLastPara="1" wrap="square" lIns="91425" tIns="91425" rIns="91425" bIns="91425" anchor="b" anchorCtr="0">
            <a:noAutofit/>
          </a:bodyPr>
          <a:lstStyle/>
          <a:p>
            <a:pPr>
              <a:lnSpc>
                <a:spcPct val="150000"/>
              </a:lnSpc>
            </a:pPr>
            <a:r>
              <a:rPr lang="en-US" sz="1400" i="0" dirty="0">
                <a:solidFill>
                  <a:schemeClr val="tx1"/>
                </a:solidFill>
                <a:effectLst/>
                <a:latin typeface="Roboto" panose="02000000000000000000" pitchFamily="2" charset="0"/>
                <a:ea typeface="Roboto" panose="02000000000000000000" pitchFamily="2" charset="0"/>
                <a:cs typeface="Roboto" panose="02000000000000000000" pitchFamily="2" charset="0"/>
              </a:rPr>
              <a:t>Project</a:t>
            </a:r>
            <a:r>
              <a:rPr lang="en-US" sz="1400" b="0" i="0" dirty="0">
                <a:solidFill>
                  <a:schemeClr val="tx1"/>
                </a:solidFill>
                <a:effectLst/>
                <a:latin typeface="Roboto" panose="02000000000000000000" pitchFamily="2" charset="0"/>
                <a:ea typeface="Roboto" panose="02000000000000000000" pitchFamily="2" charset="0"/>
                <a:cs typeface="Roboto" panose="02000000000000000000" pitchFamily="2" charset="0"/>
              </a:rPr>
              <a:t> : </a:t>
            </a:r>
            <a:r>
              <a:rPr lang="en-US" sz="1400" b="0" dirty="0">
                <a:solidFill>
                  <a:schemeClr val="tx1"/>
                </a:solidFill>
                <a:latin typeface="Roboto" panose="02000000000000000000" pitchFamily="2" charset="0"/>
                <a:ea typeface="Roboto" panose="02000000000000000000" pitchFamily="2" charset="0"/>
                <a:cs typeface="Roboto" panose="02000000000000000000" pitchFamily="2" charset="0"/>
              </a:rPr>
              <a:t>Bias Evaluation in ML models</a:t>
            </a:r>
            <a:br>
              <a:rPr lang="en-US" sz="1400" b="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Domain</a:t>
            </a:r>
            <a:r>
              <a:rPr lang="en-US" sz="1400" b="0" dirty="0">
                <a:solidFill>
                  <a:schemeClr val="tx1"/>
                </a:solidFill>
                <a:latin typeface="Roboto" panose="02000000000000000000" pitchFamily="2" charset="0"/>
                <a:ea typeface="Roboto" panose="02000000000000000000" pitchFamily="2" charset="0"/>
                <a:cs typeface="Roboto" panose="02000000000000000000" pitchFamily="2" charset="0"/>
              </a:rPr>
              <a:t> : Healthcare</a:t>
            </a:r>
            <a:br>
              <a:rPr lang="en-US" sz="1400" b="0" i="0" dirty="0">
                <a:solidFill>
                  <a:schemeClr val="tx1"/>
                </a:solidFill>
                <a:effectLst/>
                <a:latin typeface="Roboto" panose="02000000000000000000" pitchFamily="2" charset="0"/>
                <a:ea typeface="Roboto" panose="02000000000000000000" pitchFamily="2" charset="0"/>
                <a:cs typeface="Roboto" panose="02000000000000000000" pitchFamily="2" charset="0"/>
              </a:rPr>
            </a:br>
            <a:r>
              <a:rPr lang="en-US" sz="1400" i="0" dirty="0">
                <a:solidFill>
                  <a:schemeClr val="tx1"/>
                </a:solidFill>
                <a:effectLst/>
                <a:latin typeface="Roboto" panose="02000000000000000000" pitchFamily="2" charset="0"/>
                <a:ea typeface="Roboto" panose="02000000000000000000" pitchFamily="2" charset="0"/>
                <a:cs typeface="Roboto" panose="02000000000000000000" pitchFamily="2" charset="0"/>
              </a:rPr>
              <a:t>Course Name </a:t>
            </a:r>
            <a:r>
              <a:rPr lang="en-US" sz="1400" b="0" i="0" dirty="0">
                <a:solidFill>
                  <a:schemeClr val="tx1"/>
                </a:solidFill>
                <a:effectLst/>
                <a:latin typeface="Roboto" panose="02000000000000000000" pitchFamily="2" charset="0"/>
                <a:ea typeface="Roboto" panose="02000000000000000000" pitchFamily="2" charset="0"/>
                <a:cs typeface="Roboto" panose="02000000000000000000" pitchFamily="2" charset="0"/>
              </a:rPr>
              <a:t>: </a:t>
            </a:r>
            <a:r>
              <a:rPr lang="en-US" sz="1400" b="0" dirty="0">
                <a:solidFill>
                  <a:schemeClr val="tx1"/>
                </a:solidFill>
                <a:latin typeface="Roboto" panose="02000000000000000000" pitchFamily="2" charset="0"/>
                <a:ea typeface="Roboto" panose="02000000000000000000" pitchFamily="2" charset="0"/>
                <a:cs typeface="Roboto" panose="02000000000000000000" pitchFamily="2" charset="0"/>
              </a:rPr>
              <a:t>QM640 – Capstone project</a:t>
            </a:r>
            <a:br>
              <a:rPr lang="en-US" sz="1400" b="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Student Name </a:t>
            </a:r>
            <a:r>
              <a:rPr lang="en-US" sz="1400" b="0" dirty="0">
                <a:solidFill>
                  <a:schemeClr val="tx1"/>
                </a:solidFill>
                <a:latin typeface="Roboto" panose="02000000000000000000" pitchFamily="2" charset="0"/>
                <a:ea typeface="Roboto" panose="02000000000000000000" pitchFamily="2" charset="0"/>
                <a:cs typeface="Roboto" panose="02000000000000000000" pitchFamily="2" charset="0"/>
              </a:rPr>
              <a:t>: Ajit Ashok Shenvi </a:t>
            </a:r>
            <a:br>
              <a:rPr lang="en-US" sz="1400" b="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Mentor Name</a:t>
            </a:r>
            <a:r>
              <a:rPr lang="en-US" sz="1400" b="0" dirty="0">
                <a:solidFill>
                  <a:schemeClr val="tx1"/>
                </a:solidFill>
                <a:latin typeface="Roboto" panose="02000000000000000000" pitchFamily="2" charset="0"/>
                <a:ea typeface="Roboto" panose="02000000000000000000" pitchFamily="2" charset="0"/>
                <a:cs typeface="Roboto" panose="02000000000000000000" pitchFamily="2" charset="0"/>
              </a:rPr>
              <a:t>: Rishabh Pandey</a:t>
            </a:r>
            <a:endParaRPr sz="14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07" name="Google Shape;107;p23"/>
          <p:cNvSpPr txBox="1">
            <a:spLocks noGrp="1"/>
          </p:cNvSpPr>
          <p:nvPr>
            <p:ph type="ctrTitle"/>
          </p:nvPr>
        </p:nvSpPr>
        <p:spPr>
          <a:xfrm>
            <a:off x="1189145" y="4027825"/>
            <a:ext cx="6827700" cy="498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1600" b="0" dirty="0"/>
              <a:t>Date : 19-Apr-2026  </a:t>
            </a:r>
            <a:endParaRPr sz="1600" b="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4558106-7378-204B-5EC1-0E5D324E70EF}"/>
            </a:ext>
          </a:extLst>
        </p:cNvPr>
        <p:cNvGrpSpPr/>
        <p:nvPr/>
      </p:nvGrpSpPr>
      <p:grpSpPr>
        <a:xfrm>
          <a:off x="0" y="0"/>
          <a:ext cx="0" cy="0"/>
          <a:chOff x="0" y="0"/>
          <a:chExt cx="0" cy="0"/>
        </a:xfrm>
      </p:grpSpPr>
      <p:sp>
        <p:nvSpPr>
          <p:cNvPr id="118" name="Google Shape;118;p25">
            <a:extLst>
              <a:ext uri="{FF2B5EF4-FFF2-40B4-BE49-F238E27FC236}">
                <a16:creationId xmlns:a16="http://schemas.microsoft.com/office/drawing/2014/main" id="{B62E78FD-0D2C-0FE1-C79D-AAA1DC47D63C}"/>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800" dirty="0">
                <a:solidFill>
                  <a:srgbClr val="000000"/>
                </a:solidFill>
                <a:latin typeface="Calibri" panose="020F0502020204030204" pitchFamily="34" charset="0"/>
                <a:ea typeface="Calibri" panose="020F0502020204030204" pitchFamily="34" charset="0"/>
                <a:cs typeface="Calibri" panose="020F0502020204030204" pitchFamily="34" charset="0"/>
              </a:rPr>
              <a:t>Executive Summary: Project</a:t>
            </a:r>
            <a:endParaRPr sz="2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6C4646F7-853E-8A77-D73C-AFAA685E1B05}"/>
              </a:ext>
            </a:extLst>
          </p:cNvPr>
          <p:cNvSpPr txBox="1"/>
          <p:nvPr/>
        </p:nvSpPr>
        <p:spPr>
          <a:xfrm>
            <a:off x="1478488" y="1754777"/>
            <a:ext cx="7554208" cy="461665"/>
          </a:xfrm>
          <a:prstGeom prst="rect">
            <a:avLst/>
          </a:prstGeom>
          <a:noFill/>
        </p:spPr>
        <p:txBody>
          <a:bodyPr wrap="square">
            <a:spAutoFit/>
          </a:bodyPr>
          <a:lstStyle/>
          <a:p>
            <a:endParaRPr lang="en-IN" sz="2400" i="1" dirty="0">
              <a:solidFill>
                <a:schemeClr val="tx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1AA55583-5454-85BD-0BB1-55A3B49C10CA}"/>
              </a:ext>
            </a:extLst>
          </p:cNvPr>
          <p:cNvSpPr>
            <a:spLocks noChangeArrowheads="1"/>
          </p:cNvSpPr>
          <p:nvPr/>
        </p:nvSpPr>
        <p:spPr bwMode="auto">
          <a:xfrm>
            <a:off x="323226" y="1090231"/>
            <a:ext cx="8497547" cy="2968248"/>
          </a:xfrm>
          <a:prstGeom prst="rect">
            <a:avLst/>
          </a:prstGeom>
          <a:noFill/>
          <a:ln w="9525">
            <a:solidFill>
              <a:srgbClr val="C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10000"/>
              </a:lnSpc>
              <a:spcBef>
                <a:spcPct val="0"/>
              </a:spcBef>
              <a:spcAft>
                <a:spcPct val="0"/>
              </a:spcAft>
              <a:buClrTx/>
              <a:buSzTx/>
              <a:tabLst/>
            </a:pPr>
            <a:r>
              <a:rPr kumimoji="0" lang="en-US" altLang="en-US" b="1" i="0" u="none" strike="noStrike" cap="none" normalizeH="0" baseline="0" dirty="0">
                <a:ln>
                  <a:noFill/>
                </a:ln>
                <a:solidFill>
                  <a:srgbClr val="0000FF"/>
                </a:solidFill>
                <a:effectLst/>
                <a:latin typeface="Calibri" panose="020F0502020204030204" pitchFamily="34" charset="0"/>
                <a:ea typeface="Calibri" panose="020F0502020204030204" pitchFamily="34" charset="0"/>
                <a:cs typeface="Calibri" panose="020F0502020204030204" pitchFamily="34" charset="0"/>
              </a:rPr>
              <a:t>Background and Context </a:t>
            </a:r>
          </a:p>
          <a:p>
            <a:pPr marL="171450" marR="0" lvl="0" indent="-171450" algn="l" defTabSz="914400" rtl="0" eaLnBrk="0" fontAlgn="base" latinLnBrk="0" hangingPunct="0">
              <a:lnSpc>
                <a:spcPct val="11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AI-driven predictive models are increasingly used in healthcare to improve outcomes, reduce costs, and support decision-making</a:t>
            </a:r>
            <a:r>
              <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rPr>
              <a:t>.</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p>
          <a:p>
            <a:pPr marL="171450" indent="-171450" eaLnBrk="0" fontAlgn="base" hangingPunct="0">
              <a:lnSpc>
                <a:spcPct val="110000"/>
              </a:lnSpc>
              <a:spcBef>
                <a:spcPct val="0"/>
              </a:spcBef>
              <a:spcAft>
                <a:spcPct val="0"/>
              </a:spcAft>
              <a:buClrTx/>
              <a:buFont typeface="Arial" panose="020B0604020202020204" pitchFamily="34" charset="0"/>
              <a:buChar char="•"/>
            </a:pPr>
            <a:r>
              <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rPr>
              <a:t>Despite their benefits, predictive models may exhibit bias across demographic groups such as gender, age, and race. </a:t>
            </a:r>
          </a:p>
          <a:p>
            <a:pPr marL="171450" marR="0" lvl="0" indent="-171450" algn="l" defTabSz="914400" rtl="0" eaLnBrk="0" fontAlgn="base" latinLnBrk="0" hangingPunct="0">
              <a:lnSpc>
                <a:spcPct val="11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Such bias can lead to unequal identification of high-risk patients, resulting in inequitable care and operational inefficiencies. </a:t>
            </a:r>
          </a:p>
          <a:p>
            <a:pPr marL="171450" lvl="0" indent="-171450" eaLnBrk="0" fontAlgn="base" hangingPunct="0">
              <a:lnSpc>
                <a:spcPct val="110000"/>
              </a:lnSpc>
              <a:spcBef>
                <a:spcPct val="0"/>
              </a:spcBef>
              <a:spcAft>
                <a:spcPct val="0"/>
              </a:spcAft>
              <a:buClrTx/>
              <a:buFont typeface="Arial" panose="020B0604020202020204" pitchFamily="34" charset="0"/>
              <a:buChar char="•"/>
            </a:pPr>
            <a:r>
              <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rPr>
              <a:t>Readmissions among diabetic patients remain a critical concern due to their impact on healthcare costs and quality </a:t>
            </a:r>
            <a:r>
              <a:rPr lang="en-US" altLang="en-US" sz="1300" dirty="0">
                <a:solidFill>
                  <a:schemeClr val="tx1"/>
                </a:solidFill>
                <a:latin typeface="Calibri" panose="020F0502020204030204" pitchFamily="34" charset="0"/>
                <a:ea typeface="Calibri" panose="020F0502020204030204" pitchFamily="34" charset="0"/>
                <a:cs typeface="Calibri" panose="020F0502020204030204" pitchFamily="34" charset="0"/>
              </a:rPr>
              <a:t>metrics. </a:t>
            </a:r>
          </a:p>
          <a:p>
            <a:pPr marR="0" lvl="0" algn="l" defTabSz="914400" rtl="0" eaLnBrk="0" fontAlgn="base" latinLnBrk="0" hangingPunct="0">
              <a:lnSpc>
                <a:spcPct val="110000"/>
              </a:lnSpc>
              <a:spcBef>
                <a:spcPts val="600"/>
              </a:spcBef>
              <a:spcAft>
                <a:spcPct val="0"/>
              </a:spcAft>
              <a:buClrTx/>
              <a:buSzTx/>
              <a:tabLst/>
            </a:pPr>
            <a:r>
              <a:rPr kumimoji="0" lang="en-US" altLang="en-US" b="1" i="0" u="none" strike="noStrike" cap="none" normalizeH="0" baseline="0" dirty="0">
                <a:ln>
                  <a:noFill/>
                </a:ln>
                <a:solidFill>
                  <a:srgbClr val="0000FF"/>
                </a:solidFill>
                <a:effectLst/>
                <a:latin typeface="Calibri" panose="020F0502020204030204" pitchFamily="34" charset="0"/>
                <a:ea typeface="Calibri" panose="020F0502020204030204" pitchFamily="34" charset="0"/>
                <a:cs typeface="Calibri" panose="020F0502020204030204" pitchFamily="34" charset="0"/>
              </a:rPr>
              <a:t>This study </a:t>
            </a:r>
          </a:p>
          <a:p>
            <a:pPr marL="171450" lvl="2" indent="-171450" eaLnBrk="0" fontAlgn="base" hangingPunct="0">
              <a:lnSpc>
                <a:spcPct val="110000"/>
              </a:lnSpc>
              <a:spcBef>
                <a:spcPct val="0"/>
              </a:spcBef>
              <a:spcAft>
                <a:spcPct val="0"/>
              </a:spcAft>
              <a:buClrTx/>
              <a:buFont typeface="Arial" panose="020B0604020202020204" pitchFamily="34" charset="0"/>
              <a:buChar char="•"/>
            </a:pPr>
            <a:r>
              <a:rPr lang="en-US" altLang="en-US" sz="1300" dirty="0">
                <a:solidFill>
                  <a:schemeClr val="tx1"/>
                </a:solidFill>
                <a:latin typeface="Calibri" panose="020F0502020204030204" pitchFamily="34" charset="0"/>
                <a:ea typeface="Calibri" panose="020F0502020204030204" pitchFamily="34" charset="0"/>
                <a:cs typeface="Calibri" panose="020F0502020204030204" pitchFamily="34" charset="0"/>
              </a:rPr>
              <a:t>Evaluates demographic disparities in model performance, with a focus on false negative rates in readmission prediction. </a:t>
            </a:r>
          </a:p>
          <a:p>
            <a:pPr marL="171450" lvl="2" indent="-171450" eaLnBrk="0" fontAlgn="base" hangingPunct="0">
              <a:lnSpc>
                <a:spcPct val="110000"/>
              </a:lnSpc>
              <a:spcBef>
                <a:spcPct val="0"/>
              </a:spcBef>
              <a:spcAft>
                <a:spcPct val="0"/>
              </a:spcAft>
              <a:buClrTx/>
              <a:buFont typeface="Arial" panose="020B0604020202020204" pitchFamily="34" charset="0"/>
              <a:buChar char="•"/>
            </a:pPr>
            <a:r>
              <a:rPr lang="en-US" altLang="en-US" sz="1300" dirty="0">
                <a:solidFill>
                  <a:schemeClr val="tx1"/>
                </a:solidFill>
                <a:latin typeface="Calibri" panose="020F0502020204030204" pitchFamily="34" charset="0"/>
                <a:ea typeface="Calibri" panose="020F0502020204030204" pitchFamily="34" charset="0"/>
                <a:cs typeface="Calibri" panose="020F0502020204030204" pitchFamily="34" charset="0"/>
              </a:rPr>
              <a:t>Assesses whether bias mitigation techniques can reduce disparities without compromising overall model performance. </a:t>
            </a:r>
          </a:p>
        </p:txBody>
      </p:sp>
      <p:sp>
        <p:nvSpPr>
          <p:cNvPr id="4" name="Rectangle 3">
            <a:extLst>
              <a:ext uri="{FF2B5EF4-FFF2-40B4-BE49-F238E27FC236}">
                <a16:creationId xmlns:a16="http://schemas.microsoft.com/office/drawing/2014/main" id="{2028DE92-3044-24E2-4AC4-22B3F64E3BF5}"/>
              </a:ext>
            </a:extLst>
          </p:cNvPr>
          <p:cNvSpPr/>
          <p:nvPr/>
        </p:nvSpPr>
        <p:spPr>
          <a:xfrm>
            <a:off x="323227" y="4150324"/>
            <a:ext cx="8497546" cy="572701"/>
          </a:xfrm>
          <a:prstGeom prst="rect">
            <a:avLst/>
          </a:prstGeom>
          <a:ln w="12700">
            <a:solidFill>
              <a:srgbClr val="0000FF"/>
            </a:solidFill>
          </a:ln>
        </p:spPr>
        <p:style>
          <a:lnRef idx="2">
            <a:schemeClr val="dk1"/>
          </a:lnRef>
          <a:fillRef idx="1">
            <a:schemeClr val="lt1"/>
          </a:fillRef>
          <a:effectRef idx="0">
            <a:schemeClr val="dk1"/>
          </a:effectRef>
          <a:fontRef idx="minor">
            <a:schemeClr val="dk1"/>
          </a:fontRef>
        </p:style>
        <p:txBody>
          <a:bodyPr rtlCol="0" anchor="ctr"/>
          <a:lstStyle/>
          <a:p>
            <a:pPr algn="ctr"/>
            <a:r>
              <a:rPr lang="en-IN" sz="1600" i="1" dirty="0">
                <a:solidFill>
                  <a:schemeClr val="tx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Evaluating Bias in Readmission Prediction Models: </a:t>
            </a:r>
          </a:p>
          <a:p>
            <a:pPr algn="ctr"/>
            <a:r>
              <a:rPr lang="en-IN" sz="1600" i="1" dirty="0">
                <a:solidFill>
                  <a:schemeClr val="tx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Demographic Disparities in Diabetic Patient Outcomes</a:t>
            </a:r>
          </a:p>
        </p:txBody>
      </p:sp>
    </p:spTree>
    <p:extLst>
      <p:ext uri="{BB962C8B-B14F-4D97-AF65-F5344CB8AC3E}">
        <p14:creationId xmlns:p14="http://schemas.microsoft.com/office/powerpoint/2010/main" val="41515630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8092468C-56F0-D0D0-E2DA-8ECA90672559}"/>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8C81BD7C-F008-3174-5E25-19D216C209FB}"/>
              </a:ext>
            </a:extLst>
          </p:cNvPr>
          <p:cNvSpPr>
            <a:spLocks noGrp="1"/>
          </p:cNvSpPr>
          <p:nvPr>
            <p:ph type="title"/>
          </p:nvPr>
        </p:nvSpPr>
        <p:spPr>
          <a:xfrm>
            <a:off x="201972" y="288368"/>
            <a:ext cx="8520600" cy="572700"/>
          </a:xfrm>
        </p:spPr>
        <p:txBody>
          <a:bodyPr wrap="square" anchor="ctr">
            <a:normAutofit fontScale="90000"/>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Target Audience</a:t>
            </a:r>
          </a:p>
        </p:txBody>
      </p:sp>
      <p:graphicFrame>
        <p:nvGraphicFramePr>
          <p:cNvPr id="2" name="Table 1">
            <a:extLst>
              <a:ext uri="{FF2B5EF4-FFF2-40B4-BE49-F238E27FC236}">
                <a16:creationId xmlns:a16="http://schemas.microsoft.com/office/drawing/2014/main" id="{9048A87D-8B68-F177-516E-66F73E2D5C32}"/>
              </a:ext>
            </a:extLst>
          </p:cNvPr>
          <p:cNvGraphicFramePr>
            <a:graphicFrameLocks noGrp="1"/>
          </p:cNvGraphicFramePr>
          <p:nvPr>
            <p:extLst>
              <p:ext uri="{D42A27DB-BD31-4B8C-83A1-F6EECF244321}">
                <p14:modId xmlns:p14="http://schemas.microsoft.com/office/powerpoint/2010/main" val="978918183"/>
              </p:ext>
            </p:extLst>
          </p:nvPr>
        </p:nvGraphicFramePr>
        <p:xfrm>
          <a:off x="317180" y="973262"/>
          <a:ext cx="8509639" cy="2336353"/>
        </p:xfrm>
        <a:graphic>
          <a:graphicData uri="http://schemas.openxmlformats.org/drawingml/2006/table">
            <a:tbl>
              <a:tblPr firstRow="1" firstCol="1" bandRow="1">
                <a:tableStyleId>{9D7B26C5-4107-4FEC-AEDC-1716B250A1EF}</a:tableStyleId>
              </a:tblPr>
              <a:tblGrid>
                <a:gridCol w="832704">
                  <a:extLst>
                    <a:ext uri="{9D8B030D-6E8A-4147-A177-3AD203B41FA5}">
                      <a16:colId xmlns:a16="http://schemas.microsoft.com/office/drawing/2014/main" val="1131561941"/>
                    </a:ext>
                  </a:extLst>
                </a:gridCol>
                <a:gridCol w="3795097">
                  <a:extLst>
                    <a:ext uri="{9D8B030D-6E8A-4147-A177-3AD203B41FA5}">
                      <a16:colId xmlns:a16="http://schemas.microsoft.com/office/drawing/2014/main" val="2169674154"/>
                    </a:ext>
                  </a:extLst>
                </a:gridCol>
                <a:gridCol w="3881838">
                  <a:extLst>
                    <a:ext uri="{9D8B030D-6E8A-4147-A177-3AD203B41FA5}">
                      <a16:colId xmlns:a16="http://schemas.microsoft.com/office/drawing/2014/main" val="2808038229"/>
                    </a:ext>
                  </a:extLst>
                </a:gridCol>
              </a:tblGrid>
              <a:tr h="329831">
                <a:tc>
                  <a:txBody>
                    <a:bodyPr/>
                    <a:lstStyle/>
                    <a:p>
                      <a:pPr marL="228600" algn="l" fontAlgn="t">
                        <a:lnSpc>
                          <a:spcPct val="100000"/>
                        </a:lnSpc>
                        <a:buNone/>
                      </a:pPr>
                      <a:r>
                        <a:rPr lang="en-IN" sz="1400" b="1"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No</a:t>
                      </a:r>
                      <a:endParaRPr lang="en-IN" sz="140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bg2"/>
                    </a:solidFill>
                  </a:tcPr>
                </a:tc>
                <a:tc>
                  <a:txBody>
                    <a:bodyPr/>
                    <a:lstStyle/>
                    <a:p>
                      <a:pPr marL="228600" algn="l" fontAlgn="t">
                        <a:lnSpc>
                          <a:spcPct val="100000"/>
                        </a:lnSpc>
                        <a:buNone/>
                      </a:pPr>
                      <a:r>
                        <a:rPr lang="en-IN" sz="1400" b="1"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Target Users</a:t>
                      </a:r>
                      <a:endParaRPr lang="en-IN" sz="140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bg2"/>
                    </a:solidFill>
                  </a:tcPr>
                </a:tc>
                <a:tc>
                  <a:txBody>
                    <a:bodyPr/>
                    <a:lstStyle/>
                    <a:p>
                      <a:pPr marL="228600" algn="l" fontAlgn="t">
                        <a:lnSpc>
                          <a:spcPct val="100000"/>
                        </a:lnSpc>
                        <a:buNone/>
                      </a:pPr>
                      <a:r>
                        <a:rPr lang="en-IN" sz="1400" b="1"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Motivation</a:t>
                      </a:r>
                      <a:endParaRPr lang="en-IN" sz="140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bg2"/>
                    </a:solidFill>
                  </a:tcPr>
                </a:tc>
                <a:extLst>
                  <a:ext uri="{0D108BD9-81ED-4DB2-BD59-A6C34878D82A}">
                    <a16:rowId xmlns:a16="http://schemas.microsoft.com/office/drawing/2014/main" val="2430365068"/>
                  </a:ext>
                </a:extLst>
              </a:tr>
              <a:tr h="518619">
                <a:tc>
                  <a:txBody>
                    <a:bodyPr/>
                    <a:lstStyle/>
                    <a:p>
                      <a:pPr marL="0" algn="ctr" fontAlgn="t">
                        <a:lnSpc>
                          <a:spcPct val="100000"/>
                        </a:lnSpc>
                        <a:buNone/>
                      </a:pPr>
                      <a:r>
                        <a:rPr lang="en-IN" sz="12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1</a:t>
                      </a:r>
                      <a:endParaRPr lang="en-IN" sz="12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bg1">
                        <a:lumMod val="95000"/>
                        <a:alpha val="20000"/>
                      </a:schemeClr>
                    </a:solidFill>
                  </a:tcPr>
                </a:tc>
                <a:tc>
                  <a:txBody>
                    <a:bodyPr/>
                    <a:lstStyle/>
                    <a:p>
                      <a:r>
                        <a:rPr lang="en-IN" sz="1200" b="1"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Hospital Administrators / Healthcare Executives - </a:t>
                      </a:r>
                      <a:r>
                        <a:rPr lang="en-IN" sz="12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Responsible for readmission rates, cost control, compliance (CMS penalties). </a:t>
                      </a:r>
                    </a:p>
                  </a:txBody>
                  <a:tcPr marL="36000" marR="36000" marT="36000" marB="36000" anchor="ctr">
                    <a:solidFill>
                      <a:schemeClr val="bg1">
                        <a:lumMod val="95000"/>
                        <a:alpha val="20000"/>
                      </a:schemeClr>
                    </a:solidFill>
                  </a:tcPr>
                </a:tc>
                <a:tc>
                  <a:txBody>
                    <a:bodyPr/>
                    <a:lstStyle/>
                    <a:p>
                      <a:pPr marL="0" algn="l" fontAlgn="t">
                        <a:lnSpc>
                          <a:spcPct val="100000"/>
                        </a:lnSpc>
                        <a:buNone/>
                      </a:pPr>
                      <a:r>
                        <a:rPr lang="en-IN" sz="12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They care as AI models influence  patient prioritization and resource allocation </a:t>
                      </a:r>
                      <a:endParaRPr lang="en-IN" sz="12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solidFill>
                      <a:schemeClr val="bg1">
                        <a:lumMod val="95000"/>
                        <a:alpha val="20000"/>
                      </a:schemeClr>
                    </a:solidFill>
                  </a:tcPr>
                </a:tc>
                <a:extLst>
                  <a:ext uri="{0D108BD9-81ED-4DB2-BD59-A6C34878D82A}">
                    <a16:rowId xmlns:a16="http://schemas.microsoft.com/office/drawing/2014/main" val="593257773"/>
                  </a:ext>
                </a:extLst>
              </a:tr>
              <a:tr h="510362">
                <a:tc>
                  <a:txBody>
                    <a:bodyPr/>
                    <a:lstStyle/>
                    <a:p>
                      <a:pPr marL="0" algn="ctr" fontAlgn="t">
                        <a:lnSpc>
                          <a:spcPct val="100000"/>
                        </a:lnSpc>
                        <a:buNone/>
                      </a:pPr>
                      <a:r>
                        <a:rPr lang="en-IN" sz="12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2</a:t>
                      </a:r>
                      <a:endParaRPr lang="en-IN" sz="12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r>
                        <a:rPr lang="en-IN" sz="1200" b="1"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Clinical Operations Managers - </a:t>
                      </a:r>
                      <a:r>
                        <a:rPr lang="en-IN" sz="12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Manage: discharge planning, care coordination. </a:t>
                      </a:r>
                    </a:p>
                  </a:txBody>
                  <a:tcPr marL="36000" marR="36000" marT="36000" marB="36000" anchor="ctr"/>
                </a:tc>
                <a:tc>
                  <a:txBody>
                    <a:bodyPr/>
                    <a:lstStyle/>
                    <a:p>
                      <a:pPr marL="0" algn="l" fontAlgn="t">
                        <a:lnSpc>
                          <a:spcPct val="100000"/>
                        </a:lnSpc>
                        <a:buNone/>
                      </a:pPr>
                      <a:r>
                        <a:rPr lang="en-IN" sz="12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They care if model is biased as some patients may not receive follow-up care </a:t>
                      </a:r>
                      <a:endParaRPr lang="en-IN" sz="12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tc>
                <a:extLst>
                  <a:ext uri="{0D108BD9-81ED-4DB2-BD59-A6C34878D82A}">
                    <a16:rowId xmlns:a16="http://schemas.microsoft.com/office/drawing/2014/main" val="1697979906"/>
                  </a:ext>
                </a:extLst>
              </a:tr>
              <a:tr h="329831">
                <a:tc>
                  <a:txBody>
                    <a:bodyPr/>
                    <a:lstStyle/>
                    <a:p>
                      <a:pPr marL="0" algn="ctr" fontAlgn="t">
                        <a:lnSpc>
                          <a:spcPct val="100000"/>
                        </a:lnSpc>
                        <a:buNone/>
                      </a:pPr>
                      <a:r>
                        <a:rPr lang="en-IN" sz="12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3</a:t>
                      </a:r>
                      <a:endParaRPr lang="en-IN" sz="12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bg1">
                        <a:alpha val="20000"/>
                      </a:schemeClr>
                    </a:solidFill>
                  </a:tcPr>
                </a:tc>
                <a:tc>
                  <a:txBody>
                    <a:bodyPr/>
                    <a:lstStyle/>
                    <a:p>
                      <a:r>
                        <a:rPr lang="en-IN" sz="1200" b="1"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Healthcare Data &amp; Analytics Teams - </a:t>
                      </a:r>
                      <a:r>
                        <a:rPr lang="en-IN" sz="12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Build and deploy predictive models. </a:t>
                      </a:r>
                    </a:p>
                  </a:txBody>
                  <a:tcPr marL="36000" marR="36000" marT="36000" marB="36000" anchor="ctr">
                    <a:solidFill>
                      <a:schemeClr val="bg1">
                        <a:alpha val="20000"/>
                      </a:schemeClr>
                    </a:solidFill>
                  </a:tcPr>
                </a:tc>
                <a:tc>
                  <a:txBody>
                    <a:bodyPr/>
                    <a:lstStyle/>
                    <a:p>
                      <a:pPr marL="0" algn="l" fontAlgn="t">
                        <a:lnSpc>
                          <a:spcPct val="100000"/>
                        </a:lnSpc>
                        <a:buNone/>
                      </a:pPr>
                      <a:r>
                        <a:rPr lang="en-IN" sz="12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They care as they need to ensure models are fair and reliable </a:t>
                      </a:r>
                      <a:endParaRPr lang="en-IN" sz="12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solidFill>
                      <a:schemeClr val="bg1">
                        <a:alpha val="20000"/>
                      </a:schemeClr>
                    </a:solidFill>
                  </a:tcPr>
                </a:tc>
                <a:extLst>
                  <a:ext uri="{0D108BD9-81ED-4DB2-BD59-A6C34878D82A}">
                    <a16:rowId xmlns:a16="http://schemas.microsoft.com/office/drawing/2014/main" val="3002408991"/>
                  </a:ext>
                </a:extLst>
              </a:tr>
              <a:tr h="283377">
                <a:tc>
                  <a:txBody>
                    <a:bodyPr/>
                    <a:lstStyle/>
                    <a:p>
                      <a:pPr marL="0" algn="ctr" fontAlgn="t">
                        <a:lnSpc>
                          <a:spcPct val="100000"/>
                        </a:lnSpc>
                        <a:buNone/>
                      </a:pPr>
                      <a:r>
                        <a:rPr lang="en-IN" sz="12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4</a:t>
                      </a:r>
                      <a:endParaRPr lang="en-IN" sz="12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r>
                        <a:rPr lang="en-IN" sz="1200" b="1"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Policy Makers / Regulators (Secondary) - </a:t>
                      </a:r>
                      <a:r>
                        <a:rPr lang="en-IN" sz="12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Example: CMS (US healthcare system)</a:t>
                      </a:r>
                    </a:p>
                  </a:txBody>
                  <a:tcPr marL="36000" marR="36000" marT="36000" marB="36000" anchor="ctr"/>
                </a:tc>
                <a:tc>
                  <a:txBody>
                    <a:bodyPr/>
                    <a:lstStyle/>
                    <a:p>
                      <a:pPr marL="0" algn="l" fontAlgn="t">
                        <a:lnSpc>
                          <a:spcPct val="100000"/>
                        </a:lnSpc>
                        <a:buNone/>
                      </a:pPr>
                      <a:r>
                        <a:rPr lang="en-IN" sz="12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The are concerned with fairness, equity </a:t>
                      </a:r>
                      <a:endParaRPr lang="en-IN" sz="12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tc>
                <a:extLst>
                  <a:ext uri="{0D108BD9-81ED-4DB2-BD59-A6C34878D82A}">
                    <a16:rowId xmlns:a16="http://schemas.microsoft.com/office/drawing/2014/main" val="2705606246"/>
                  </a:ext>
                </a:extLst>
              </a:tr>
            </a:tbl>
          </a:graphicData>
        </a:graphic>
      </p:graphicFrame>
    </p:spTree>
    <p:extLst>
      <p:ext uri="{BB962C8B-B14F-4D97-AF65-F5344CB8AC3E}">
        <p14:creationId xmlns:p14="http://schemas.microsoft.com/office/powerpoint/2010/main" val="34408973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ED36AAD-8D10-7DA5-B219-FEF12D39F3E1}"/>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A7295827-E3A6-8DAF-91D5-7C5D12190A5F}"/>
              </a:ext>
            </a:extLst>
          </p:cNvPr>
          <p:cNvSpPr>
            <a:spLocks noGrp="1"/>
          </p:cNvSpPr>
          <p:nvPr>
            <p:ph type="title"/>
          </p:nvPr>
        </p:nvSpPr>
        <p:spPr/>
        <p:txBody>
          <a:bodyPr/>
          <a:lstStyle/>
          <a:p>
            <a:r>
              <a:rPr lang="en-IN" sz="2800" dirty="0">
                <a:latin typeface="Calibri" panose="020F0502020204030204" pitchFamily="34" charset="0"/>
                <a:ea typeface="Calibri" panose="020F0502020204030204" pitchFamily="34" charset="0"/>
                <a:cs typeface="Calibri" panose="020F0502020204030204" pitchFamily="34" charset="0"/>
              </a:rPr>
              <a:t>Research Questions</a:t>
            </a:r>
          </a:p>
        </p:txBody>
      </p:sp>
      <p:sp>
        <p:nvSpPr>
          <p:cNvPr id="18" name="TextBox 17">
            <a:extLst>
              <a:ext uri="{FF2B5EF4-FFF2-40B4-BE49-F238E27FC236}">
                <a16:creationId xmlns:a16="http://schemas.microsoft.com/office/drawing/2014/main" id="{F6914803-4932-539D-66C1-EDE4CEA5023B}"/>
              </a:ext>
            </a:extLst>
          </p:cNvPr>
          <p:cNvSpPr txBox="1"/>
          <p:nvPr/>
        </p:nvSpPr>
        <p:spPr>
          <a:xfrm>
            <a:off x="357963" y="1840178"/>
            <a:ext cx="8520600" cy="2912016"/>
          </a:xfrm>
          <a:prstGeom prst="rect">
            <a:avLst/>
          </a:prstGeom>
          <a:noFill/>
          <a:ln>
            <a:solidFill>
              <a:srgbClr val="FF0000"/>
            </a:solidFill>
          </a:ln>
        </p:spPr>
        <p:txBody>
          <a:bodyPr wrap="square">
            <a:spAutoFit/>
          </a:bodyPr>
          <a:lstStyle/>
          <a:p>
            <a:pPr>
              <a:lnSpc>
                <a:spcPct val="110000"/>
              </a:lnSpc>
              <a:buNone/>
            </a:pPr>
            <a:r>
              <a:rPr lang="en-IN" b="1" dirty="0">
                <a:effectLst/>
                <a:latin typeface="Calibri" panose="020F0502020204030204" pitchFamily="34" charset="0"/>
                <a:ea typeface="Calibri" panose="020F0502020204030204" pitchFamily="34" charset="0"/>
                <a:cs typeface="Calibri" panose="020F0502020204030204" pitchFamily="34" charset="0"/>
              </a:rPr>
              <a:t>Research Question 1 (RQ1): Performance Equity Across Demographic Groups</a:t>
            </a:r>
            <a:endParaRPr lang="en-IN" dirty="0">
              <a:effectLst/>
              <a:latin typeface="Calibri" panose="020F0502020204030204" pitchFamily="34" charset="0"/>
              <a:ea typeface="Calibri" panose="020F0502020204030204" pitchFamily="34" charset="0"/>
              <a:cs typeface="Calibri" panose="020F0502020204030204" pitchFamily="34" charset="0"/>
            </a:endParaRPr>
          </a:p>
          <a:p>
            <a:pPr algn="just">
              <a:lnSpc>
                <a:spcPct val="110000"/>
              </a:lnSpc>
              <a:buNone/>
            </a:pPr>
            <a:r>
              <a:rPr lang="en-IN" i="1"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Does the predictive model demonstrate consistent classification performance across demographic groups such as gender, age, and race?</a:t>
            </a:r>
          </a:p>
          <a:p>
            <a:pPr>
              <a:lnSpc>
                <a:spcPct val="110000"/>
              </a:lnSpc>
              <a:spcBef>
                <a:spcPts val="1200"/>
              </a:spcBef>
            </a:pPr>
            <a:r>
              <a:rPr lang="en-IN" b="1" dirty="0">
                <a:latin typeface="Calibri" panose="020F0502020204030204" pitchFamily="34" charset="0"/>
                <a:ea typeface="Calibri" panose="020F0502020204030204" pitchFamily="34" charset="0"/>
                <a:cs typeface="Calibri" panose="020F0502020204030204" pitchFamily="34" charset="0"/>
              </a:rPr>
              <a:t>Research Question 2 (RQ2): Critical Error Disparities</a:t>
            </a:r>
            <a:endParaRPr lang="en-IN" dirty="0">
              <a:latin typeface="Calibri" panose="020F0502020204030204" pitchFamily="34" charset="0"/>
              <a:ea typeface="Calibri" panose="020F0502020204030204" pitchFamily="34" charset="0"/>
              <a:cs typeface="Calibri" panose="020F0502020204030204" pitchFamily="34" charset="0"/>
            </a:endParaRPr>
          </a:p>
          <a:p>
            <a:pPr>
              <a:lnSpc>
                <a:spcPct val="110000"/>
              </a:lnSpc>
            </a:pPr>
            <a:r>
              <a:rPr lang="en-IN" i="1" dirty="0">
                <a:solidFill>
                  <a:srgbClr val="0000FF"/>
                </a:solidFill>
                <a:latin typeface="Calibri" panose="020F0502020204030204" pitchFamily="34" charset="0"/>
                <a:ea typeface="Calibri" panose="020F0502020204030204" pitchFamily="34" charset="0"/>
                <a:cs typeface="Calibri" panose="020F0502020204030204" pitchFamily="34" charset="0"/>
              </a:rPr>
              <a:t>Are certain demographic groups more likely to be misclassified as low risk despite being high-risk patients?</a:t>
            </a:r>
          </a:p>
          <a:p>
            <a:pPr>
              <a:lnSpc>
                <a:spcPct val="110000"/>
              </a:lnSpc>
              <a:spcBef>
                <a:spcPts val="1200"/>
              </a:spcBef>
            </a:pPr>
            <a:r>
              <a:rPr lang="en-IN" b="1" dirty="0">
                <a:latin typeface="Calibri" panose="020F0502020204030204" pitchFamily="34" charset="0"/>
                <a:ea typeface="Calibri" panose="020F0502020204030204" pitchFamily="34" charset="0"/>
                <a:cs typeface="Calibri" panose="020F0502020204030204" pitchFamily="34" charset="0"/>
              </a:rPr>
              <a:t>Research Question 3 (RQ3): Impact of Dataset Imbalance</a:t>
            </a:r>
            <a:endParaRPr lang="en-IN" dirty="0">
              <a:latin typeface="Calibri" panose="020F0502020204030204" pitchFamily="34" charset="0"/>
              <a:ea typeface="Calibri" panose="020F0502020204030204" pitchFamily="34" charset="0"/>
              <a:cs typeface="Calibri" panose="020F0502020204030204" pitchFamily="34" charset="0"/>
            </a:endParaRPr>
          </a:p>
          <a:p>
            <a:pPr>
              <a:lnSpc>
                <a:spcPct val="110000"/>
              </a:lnSpc>
            </a:pPr>
            <a:r>
              <a:rPr lang="en-IN" i="1" dirty="0">
                <a:solidFill>
                  <a:srgbClr val="0000FF"/>
                </a:solidFill>
                <a:latin typeface="Calibri" panose="020F0502020204030204" pitchFamily="34" charset="0"/>
                <a:ea typeface="Calibri" panose="020F0502020204030204" pitchFamily="34" charset="0"/>
                <a:cs typeface="Calibri" panose="020F0502020204030204" pitchFamily="34" charset="0"/>
              </a:rPr>
              <a:t>Is model bias across demographic groups influenced by imbalance in the underlying dataset?</a:t>
            </a:r>
          </a:p>
          <a:p>
            <a:pPr>
              <a:lnSpc>
                <a:spcPct val="110000"/>
              </a:lnSpc>
              <a:spcBef>
                <a:spcPts val="1200"/>
              </a:spcBef>
            </a:pPr>
            <a:r>
              <a:rPr lang="en-IN" b="1" dirty="0">
                <a:latin typeface="Calibri" panose="020F0502020204030204" pitchFamily="34" charset="0"/>
                <a:ea typeface="Calibri" panose="020F0502020204030204" pitchFamily="34" charset="0"/>
                <a:cs typeface="Calibri" panose="020F0502020204030204" pitchFamily="34" charset="0"/>
              </a:rPr>
              <a:t>Research Question 4 (RQ4): Effectiveness of Bias Mitigation</a:t>
            </a:r>
            <a:endParaRPr lang="en-IN" dirty="0">
              <a:latin typeface="Calibri" panose="020F0502020204030204" pitchFamily="34" charset="0"/>
              <a:ea typeface="Calibri" panose="020F0502020204030204" pitchFamily="34" charset="0"/>
              <a:cs typeface="Calibri" panose="020F0502020204030204" pitchFamily="34" charset="0"/>
            </a:endParaRPr>
          </a:p>
          <a:p>
            <a:pPr>
              <a:lnSpc>
                <a:spcPct val="110000"/>
              </a:lnSpc>
            </a:pPr>
            <a:r>
              <a:rPr lang="en-IN" i="1" dirty="0">
                <a:solidFill>
                  <a:srgbClr val="0000FF"/>
                </a:solidFill>
                <a:latin typeface="Calibri" panose="020F0502020204030204" pitchFamily="34" charset="0"/>
                <a:ea typeface="Calibri" panose="020F0502020204030204" pitchFamily="34" charset="0"/>
                <a:cs typeface="Calibri" panose="020F0502020204030204" pitchFamily="34" charset="0"/>
              </a:rPr>
              <a:t>Can bias in predictive outcomes be reduced through mitigation techniques without significantly degrading overall predictive performance?</a:t>
            </a:r>
            <a:endParaRPr lang="en-IN" dirty="0">
              <a:solidFill>
                <a:srgbClr val="0000FF"/>
              </a:solidFill>
              <a:latin typeface="Calibri" panose="020F0502020204030204" pitchFamily="34" charset="0"/>
              <a:ea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71F30550-5B56-8F37-B0E7-58F7E3FE8EB2}"/>
              </a:ext>
            </a:extLst>
          </p:cNvPr>
          <p:cNvSpPr txBox="1"/>
          <p:nvPr/>
        </p:nvSpPr>
        <p:spPr>
          <a:xfrm>
            <a:off x="357963" y="966680"/>
            <a:ext cx="8520600" cy="738664"/>
          </a:xfrm>
          <a:prstGeom prst="rect">
            <a:avLst/>
          </a:prstGeom>
          <a:noFill/>
          <a:ln>
            <a:solidFill>
              <a:srgbClr val="00B050"/>
            </a:solidFill>
          </a:ln>
        </p:spPr>
        <p:txBody>
          <a:bodyPr wrap="square">
            <a:spAutoFit/>
          </a:bodyPr>
          <a:lstStyle/>
          <a:p>
            <a:r>
              <a:rPr lang="en-IN" dirty="0">
                <a:effectLst/>
                <a:latin typeface="Calibri" panose="020F0502020204030204" pitchFamily="34" charset="0"/>
                <a:ea typeface="Calibri" panose="020F0502020204030204" pitchFamily="34" charset="0"/>
                <a:cs typeface="Calibri" panose="020F0502020204030204" pitchFamily="34" charset="0"/>
              </a:rPr>
              <a:t>The overall objective of this study is to evaluate whether predictive models for hospital readmission among diabetic patients exhibit bias across demographic groups and to assess the implications of such bias on healthcare decision-making and operational outcomes</a:t>
            </a:r>
            <a:endParaRPr lang="en-IN" dirty="0"/>
          </a:p>
        </p:txBody>
      </p:sp>
    </p:spTree>
    <p:extLst>
      <p:ext uri="{BB962C8B-B14F-4D97-AF65-F5344CB8AC3E}">
        <p14:creationId xmlns:p14="http://schemas.microsoft.com/office/powerpoint/2010/main" val="2073152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4C03803-5E22-98DD-8C41-A71BEE7BDCF6}"/>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BA368B54-502C-01C8-751F-5A9B9104FE1B}"/>
              </a:ext>
            </a:extLst>
          </p:cNvPr>
          <p:cNvSpPr>
            <a:spLocks noGrp="1"/>
          </p:cNvSpPr>
          <p:nvPr>
            <p:ph type="title"/>
          </p:nvPr>
        </p:nvSpPr>
        <p:spPr/>
        <p:txBody>
          <a:bodyPr/>
          <a:lstStyle/>
          <a:p>
            <a:r>
              <a:rPr lang="en-IN" sz="2800" dirty="0">
                <a:latin typeface="Calibri" panose="020F0502020204030204" pitchFamily="34" charset="0"/>
                <a:ea typeface="Calibri" panose="020F0502020204030204" pitchFamily="34" charset="0"/>
                <a:cs typeface="Calibri" panose="020F0502020204030204" pitchFamily="34" charset="0"/>
              </a:rPr>
              <a:t>Data</a:t>
            </a:r>
          </a:p>
        </p:txBody>
      </p:sp>
      <p:sp>
        <p:nvSpPr>
          <p:cNvPr id="4" name="TextBox 3">
            <a:extLst>
              <a:ext uri="{FF2B5EF4-FFF2-40B4-BE49-F238E27FC236}">
                <a16:creationId xmlns:a16="http://schemas.microsoft.com/office/drawing/2014/main" id="{D041A9B2-3A21-8566-BADB-16264F93A692}"/>
              </a:ext>
            </a:extLst>
          </p:cNvPr>
          <p:cNvSpPr txBox="1"/>
          <p:nvPr/>
        </p:nvSpPr>
        <p:spPr>
          <a:xfrm>
            <a:off x="38986" y="748565"/>
            <a:ext cx="8722242" cy="554447"/>
          </a:xfrm>
          <a:prstGeom prst="rect">
            <a:avLst/>
          </a:prstGeom>
          <a:noFill/>
        </p:spPr>
        <p:txBody>
          <a:bodyPr wrap="square">
            <a:spAutoFit/>
          </a:bodyPr>
          <a:lstStyle/>
          <a:p>
            <a:pPr marL="457200" algn="ctr">
              <a:lnSpc>
                <a:spcPct val="110000"/>
              </a:lnSpc>
              <a:buNone/>
            </a:pPr>
            <a:r>
              <a:rPr lang="en-IN" dirty="0">
                <a:effectLst/>
                <a:latin typeface="Calibri" panose="020F0502020204030204" pitchFamily="34" charset="0"/>
                <a:ea typeface="Calibri" panose="020F0502020204030204" pitchFamily="34" charset="0"/>
                <a:cs typeface="Calibri" panose="020F0502020204030204" pitchFamily="34" charset="0"/>
              </a:rPr>
              <a:t>Source : UCI Machine Learning Repository. </a:t>
            </a:r>
          </a:p>
          <a:p>
            <a:pPr marL="457200" algn="ctr">
              <a:lnSpc>
                <a:spcPct val="110000"/>
              </a:lnSpc>
              <a:buNone/>
            </a:pPr>
            <a:r>
              <a:rPr lang="en-IN" u="sng" dirty="0">
                <a:solidFill>
                  <a:srgbClr val="0000FF"/>
                </a:solidFill>
                <a:effectLst/>
                <a:latin typeface="Calibri" panose="020F0502020204030204" pitchFamily="34" charset="0"/>
                <a:ea typeface="Calibri" panose="020F0502020204030204" pitchFamily="34" charset="0"/>
                <a:cs typeface="Calibri" panose="020F0502020204030204" pitchFamily="34" charset="0"/>
                <a:hlinkClick r:id="rId3"/>
              </a:rPr>
              <a:t>Diabetes 130-US Hospitals for Years 1999-2008 - UCI Machine Learning Repository</a:t>
            </a:r>
            <a:endParaRPr lang="en-IN" dirty="0">
              <a:effectLst/>
              <a:latin typeface="Calibri" panose="020F0502020204030204" pitchFamily="34" charset="0"/>
              <a:ea typeface="Calibri" panose="020F0502020204030204" pitchFamily="34" charset="0"/>
              <a:cs typeface="Calibri" panose="020F0502020204030204" pitchFamily="34" charset="0"/>
            </a:endParaRPr>
          </a:p>
        </p:txBody>
      </p:sp>
      <p:pic>
        <p:nvPicPr>
          <p:cNvPr id="10" name="Picture 9">
            <a:extLst>
              <a:ext uri="{FF2B5EF4-FFF2-40B4-BE49-F238E27FC236}">
                <a16:creationId xmlns:a16="http://schemas.microsoft.com/office/drawing/2014/main" id="{2C4D2ABB-0813-6479-63E8-3A11393BC4A9}"/>
              </a:ext>
            </a:extLst>
          </p:cNvPr>
          <p:cNvPicPr>
            <a:picLocks noChangeAspect="1"/>
          </p:cNvPicPr>
          <p:nvPr/>
        </p:nvPicPr>
        <p:blipFill>
          <a:blip r:embed="rId4"/>
          <a:stretch>
            <a:fillRect/>
          </a:stretch>
        </p:blipFill>
        <p:spPr>
          <a:xfrm>
            <a:off x="987056" y="1321265"/>
            <a:ext cx="6826102" cy="3494547"/>
          </a:xfrm>
          <a:prstGeom prst="rect">
            <a:avLst/>
          </a:prstGeom>
        </p:spPr>
      </p:pic>
    </p:spTree>
    <p:extLst>
      <p:ext uri="{BB962C8B-B14F-4D97-AF65-F5344CB8AC3E}">
        <p14:creationId xmlns:p14="http://schemas.microsoft.com/office/powerpoint/2010/main" val="8194376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24C6C29-C87F-C81C-3157-80C5C9331930}"/>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58F7CC11-0B41-3F5D-7B9A-6819C5656694}"/>
              </a:ext>
            </a:extLst>
          </p:cNvPr>
          <p:cNvSpPr>
            <a:spLocks noGrp="1"/>
          </p:cNvSpPr>
          <p:nvPr>
            <p:ph type="title"/>
          </p:nvPr>
        </p:nvSpPr>
        <p:spPr/>
        <p:txBody>
          <a:bodyPr/>
          <a:lstStyle/>
          <a:p>
            <a:r>
              <a:rPr lang="en-IN" sz="2800" dirty="0">
                <a:latin typeface="Calibri" panose="020F0502020204030204" pitchFamily="34" charset="0"/>
                <a:ea typeface="Calibri" panose="020F0502020204030204" pitchFamily="34" charset="0"/>
                <a:cs typeface="Calibri" panose="020F0502020204030204" pitchFamily="34" charset="0"/>
              </a:rPr>
              <a:t>Data dictionary</a:t>
            </a:r>
          </a:p>
        </p:txBody>
      </p:sp>
      <p:graphicFrame>
        <p:nvGraphicFramePr>
          <p:cNvPr id="2" name="Table 1">
            <a:extLst>
              <a:ext uri="{FF2B5EF4-FFF2-40B4-BE49-F238E27FC236}">
                <a16:creationId xmlns:a16="http://schemas.microsoft.com/office/drawing/2014/main" id="{BE0FD090-F7AB-132A-EAB9-1561E9947D71}"/>
              </a:ext>
            </a:extLst>
          </p:cNvPr>
          <p:cNvGraphicFramePr>
            <a:graphicFrameLocks noGrp="1"/>
          </p:cNvGraphicFramePr>
          <p:nvPr>
            <p:extLst>
              <p:ext uri="{D42A27DB-BD31-4B8C-83A1-F6EECF244321}">
                <p14:modId xmlns:p14="http://schemas.microsoft.com/office/powerpoint/2010/main" val="1593423310"/>
              </p:ext>
            </p:extLst>
          </p:nvPr>
        </p:nvGraphicFramePr>
        <p:xfrm>
          <a:off x="389860" y="1112874"/>
          <a:ext cx="8456430" cy="2898077"/>
        </p:xfrm>
        <a:graphic>
          <a:graphicData uri="http://schemas.openxmlformats.org/drawingml/2006/table">
            <a:tbl>
              <a:tblPr firstRow="1" bandRow="1">
                <a:tableStyleId>{7E9639D4-E3E2-4D34-9284-5A2195B3D0D7}</a:tableStyleId>
              </a:tblPr>
              <a:tblGrid>
                <a:gridCol w="1409405">
                  <a:extLst>
                    <a:ext uri="{9D8B030D-6E8A-4147-A177-3AD203B41FA5}">
                      <a16:colId xmlns:a16="http://schemas.microsoft.com/office/drawing/2014/main" val="3282628948"/>
                    </a:ext>
                  </a:extLst>
                </a:gridCol>
                <a:gridCol w="1409405">
                  <a:extLst>
                    <a:ext uri="{9D8B030D-6E8A-4147-A177-3AD203B41FA5}">
                      <a16:colId xmlns:a16="http://schemas.microsoft.com/office/drawing/2014/main" val="2821593535"/>
                    </a:ext>
                  </a:extLst>
                </a:gridCol>
                <a:gridCol w="1409405">
                  <a:extLst>
                    <a:ext uri="{9D8B030D-6E8A-4147-A177-3AD203B41FA5}">
                      <a16:colId xmlns:a16="http://schemas.microsoft.com/office/drawing/2014/main" val="1951415731"/>
                    </a:ext>
                  </a:extLst>
                </a:gridCol>
                <a:gridCol w="1409405">
                  <a:extLst>
                    <a:ext uri="{9D8B030D-6E8A-4147-A177-3AD203B41FA5}">
                      <a16:colId xmlns:a16="http://schemas.microsoft.com/office/drawing/2014/main" val="871112627"/>
                    </a:ext>
                  </a:extLst>
                </a:gridCol>
                <a:gridCol w="1409405">
                  <a:extLst>
                    <a:ext uri="{9D8B030D-6E8A-4147-A177-3AD203B41FA5}">
                      <a16:colId xmlns:a16="http://schemas.microsoft.com/office/drawing/2014/main" val="480011750"/>
                    </a:ext>
                  </a:extLst>
                </a:gridCol>
                <a:gridCol w="1409405">
                  <a:extLst>
                    <a:ext uri="{9D8B030D-6E8A-4147-A177-3AD203B41FA5}">
                      <a16:colId xmlns:a16="http://schemas.microsoft.com/office/drawing/2014/main" val="3501586798"/>
                    </a:ext>
                  </a:extLst>
                </a:gridCol>
              </a:tblGrid>
              <a:tr h="53439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200" b="1" u="none" strike="noStrike" cap="none" dirty="0">
                          <a:solidFill>
                            <a:schemeClr val="bg1"/>
                          </a:solidFill>
                          <a:effectLst/>
                          <a:sym typeface="Arial"/>
                        </a:rPr>
                        <a:t>Demographic Information</a:t>
                      </a:r>
                      <a:endParaRPr lang="en-IN" sz="1200" b="1" i="0" u="none" strike="noStrike" cap="none" dirty="0">
                        <a:solidFill>
                          <a:schemeClr val="bg1"/>
                        </a:solidFill>
                        <a:effectLst/>
                        <a:latin typeface="Calibri" panose="020F0502020204030204" pitchFamily="34" charset="0"/>
                        <a:ea typeface="Calibri" panose="020F0502020204030204" pitchFamily="34" charset="0"/>
                        <a:cs typeface="Calibri" panose="020F0502020204030204" pitchFamily="34" charset="0"/>
                        <a:sym typeface="Arial"/>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200" b="1" u="none" strike="noStrike" cap="none" dirty="0">
                          <a:solidFill>
                            <a:schemeClr val="bg1"/>
                          </a:solidFill>
                          <a:effectLst/>
                          <a:sym typeface="Arial"/>
                        </a:rPr>
                        <a:t>Encounter Information</a:t>
                      </a:r>
                      <a:endParaRPr lang="en-IN" sz="1200" b="1" i="0" u="none" strike="noStrike" cap="none" dirty="0">
                        <a:solidFill>
                          <a:schemeClr val="bg1"/>
                        </a:solidFill>
                        <a:effectLst/>
                        <a:latin typeface="Calibri" panose="020F0502020204030204" pitchFamily="34" charset="0"/>
                        <a:ea typeface="Calibri" panose="020F0502020204030204" pitchFamily="34" charset="0"/>
                        <a:cs typeface="Calibri" panose="020F0502020204030204" pitchFamily="34" charset="0"/>
                        <a:sym typeface="Arial"/>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200" b="1" u="none" strike="noStrike" cap="none" dirty="0">
                          <a:solidFill>
                            <a:schemeClr val="bg1"/>
                          </a:solidFill>
                          <a:effectLst/>
                          <a:sym typeface="Arial"/>
                        </a:rPr>
                        <a:t>Clinical and Utilization Features</a:t>
                      </a:r>
                      <a:endParaRPr lang="en-IN" sz="1200" b="1" i="0" u="none" strike="noStrike" cap="none" dirty="0">
                        <a:solidFill>
                          <a:schemeClr val="bg1"/>
                        </a:solidFill>
                        <a:effectLst/>
                        <a:latin typeface="Calibri" panose="020F0502020204030204" pitchFamily="34" charset="0"/>
                        <a:ea typeface="Calibri" panose="020F0502020204030204" pitchFamily="34" charset="0"/>
                        <a:cs typeface="Calibri" panose="020F0502020204030204" pitchFamily="34" charset="0"/>
                        <a:sym typeface="Arial"/>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200" b="1" u="none" strike="noStrike" cap="none" dirty="0">
                          <a:solidFill>
                            <a:schemeClr val="bg1"/>
                          </a:solidFill>
                          <a:effectLst/>
                          <a:sym typeface="Arial"/>
                        </a:rPr>
                        <a:t>Prior Healthcare Utilization</a:t>
                      </a:r>
                      <a:endParaRPr lang="en-IN" sz="1200" b="1" i="0" u="none" strike="noStrike" cap="none" dirty="0">
                        <a:solidFill>
                          <a:schemeClr val="bg1"/>
                        </a:solidFill>
                        <a:effectLst/>
                        <a:latin typeface="Calibri" panose="020F0502020204030204" pitchFamily="34" charset="0"/>
                        <a:ea typeface="Calibri" panose="020F0502020204030204" pitchFamily="34" charset="0"/>
                        <a:cs typeface="Calibri" panose="020F0502020204030204" pitchFamily="34" charset="0"/>
                        <a:sym typeface="Arial"/>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200" b="1" u="none" strike="noStrike" cap="none" dirty="0">
                          <a:solidFill>
                            <a:schemeClr val="bg1"/>
                          </a:solidFill>
                          <a:effectLst/>
                          <a:sym typeface="Arial"/>
                        </a:rPr>
                        <a:t>Treatment Information</a:t>
                      </a:r>
                      <a:endParaRPr lang="en-IN" sz="1200" b="1" i="0" u="none" strike="noStrike" cap="none" dirty="0">
                        <a:solidFill>
                          <a:schemeClr val="bg1"/>
                        </a:solidFill>
                        <a:effectLst/>
                        <a:latin typeface="Calibri" panose="020F0502020204030204" pitchFamily="34" charset="0"/>
                        <a:ea typeface="Calibri" panose="020F0502020204030204" pitchFamily="34" charset="0"/>
                        <a:cs typeface="Calibri" panose="020F0502020204030204" pitchFamily="34" charset="0"/>
                        <a:sym typeface="Arial"/>
                      </a:endParaRPr>
                    </a:p>
                  </a:txBody>
                  <a:tcPr/>
                </a:tc>
                <a:tc>
                  <a:txBody>
                    <a:bodyPr/>
                    <a:lstStyle/>
                    <a:p>
                      <a:pPr algn="ctr"/>
                      <a:r>
                        <a:rPr lang="en-IN" sz="1200" b="1" u="none" strike="noStrike" cap="none" dirty="0">
                          <a:solidFill>
                            <a:schemeClr val="bg1"/>
                          </a:solidFill>
                          <a:effectLst/>
                          <a:sym typeface="Arial"/>
                        </a:rPr>
                        <a:t>Target Variable</a:t>
                      </a:r>
                      <a:endParaRPr lang="en-IN" sz="12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636133919"/>
                  </a:ext>
                </a:extLst>
              </a:tr>
              <a:tr h="534390">
                <a:tc>
                  <a:txBody>
                    <a:bodyPr/>
                    <a:lstStyle/>
                    <a:p>
                      <a:pPr marL="171450" lvl="0" indent="-171450">
                        <a:lnSpc>
                          <a:spcPct val="110000"/>
                        </a:lnSpc>
                        <a:buFont typeface="Arial" panose="020B0604020202020204" pitchFamily="34" charset="0"/>
                        <a:buChar char="•"/>
                      </a:pPr>
                      <a:r>
                        <a:rPr lang="en-IN" sz="1100" b="0" u="none" strike="noStrike" cap="none" dirty="0">
                          <a:solidFill>
                            <a:schemeClr val="tx1"/>
                          </a:solidFill>
                          <a:effectLst/>
                          <a:sym typeface="Arial"/>
                        </a:rPr>
                        <a:t>Gender (Male, Female) </a:t>
                      </a:r>
                    </a:p>
                    <a:p>
                      <a:pPr marL="171450" lvl="0" indent="-171450">
                        <a:lnSpc>
                          <a:spcPct val="110000"/>
                        </a:lnSpc>
                        <a:spcBef>
                          <a:spcPts val="600"/>
                        </a:spcBef>
                        <a:buFont typeface="Arial" panose="020B0604020202020204" pitchFamily="34" charset="0"/>
                        <a:buChar char="•"/>
                      </a:pPr>
                      <a:r>
                        <a:rPr lang="en-IN" sz="1100" b="0" u="none" strike="noStrike" cap="none" dirty="0">
                          <a:solidFill>
                            <a:schemeClr val="tx1"/>
                          </a:solidFill>
                          <a:effectLst/>
                          <a:sym typeface="Arial"/>
                        </a:rPr>
                        <a:t>Age (grouped into intervals such as 50-60, 60-70, etc.) </a:t>
                      </a:r>
                    </a:p>
                    <a:p>
                      <a:pPr marL="171450" lvl="0" indent="-171450">
                        <a:lnSpc>
                          <a:spcPct val="110000"/>
                        </a:lnSpc>
                        <a:spcBef>
                          <a:spcPts val="600"/>
                        </a:spcBef>
                        <a:buFont typeface="Arial" panose="020B0604020202020204" pitchFamily="34" charset="0"/>
                        <a:buChar char="•"/>
                      </a:pPr>
                      <a:r>
                        <a:rPr lang="en-IN" sz="1100" b="0" u="none" strike="noStrike" cap="none" dirty="0">
                          <a:solidFill>
                            <a:schemeClr val="tx1"/>
                          </a:solidFill>
                          <a:effectLst/>
                          <a:sym typeface="Arial"/>
                        </a:rPr>
                        <a:t>Race (e.g., Caucasian, African American, others) </a:t>
                      </a:r>
                    </a:p>
                  </a:txBody>
                  <a:tcPr/>
                </a:tc>
                <a:tc>
                  <a:txBody>
                    <a:bodyPr/>
                    <a:lstStyle/>
                    <a:p>
                      <a:pPr marL="171450" marR="0" lvl="0" indent="-171450" algn="l" rtl="0">
                        <a:lnSpc>
                          <a:spcPct val="110000"/>
                        </a:lnSpc>
                        <a:spcAft>
                          <a:spcPts val="0"/>
                        </a:spcAft>
                        <a:buClr>
                          <a:srgbClr val="000000"/>
                        </a:buClr>
                        <a:buFont typeface="Arial" panose="020B0604020202020204" pitchFamily="34" charset="0"/>
                        <a:buChar char="•"/>
                      </a:pPr>
                      <a:r>
                        <a:rPr lang="en-IN" sz="1100" b="0" u="none" strike="noStrike" cap="none" dirty="0">
                          <a:solidFill>
                            <a:schemeClr val="tx1"/>
                          </a:solidFill>
                          <a:effectLst/>
                          <a:sym typeface="Arial"/>
                        </a:rPr>
                        <a:t>Admission type </a:t>
                      </a:r>
                    </a:p>
                    <a:p>
                      <a:pPr marL="171450" marR="0" lvl="0" indent="-171450" algn="l" rtl="0">
                        <a:lnSpc>
                          <a:spcPct val="110000"/>
                        </a:lnSpc>
                        <a:spcBef>
                          <a:spcPts val="600"/>
                        </a:spcBef>
                        <a:spcAft>
                          <a:spcPts val="0"/>
                        </a:spcAft>
                        <a:buClr>
                          <a:srgbClr val="000000"/>
                        </a:buClr>
                        <a:buFont typeface="Arial" panose="020B0604020202020204" pitchFamily="34" charset="0"/>
                        <a:buChar char="•"/>
                      </a:pPr>
                      <a:r>
                        <a:rPr lang="en-IN" sz="1100" b="0" u="none" strike="noStrike" cap="none" dirty="0">
                          <a:solidFill>
                            <a:schemeClr val="tx1"/>
                          </a:solidFill>
                          <a:effectLst/>
                          <a:sym typeface="Arial"/>
                        </a:rPr>
                        <a:t>Discharge disposition </a:t>
                      </a:r>
                    </a:p>
                    <a:p>
                      <a:pPr marL="171450" marR="0" lvl="0" indent="-171450" algn="l" rtl="0">
                        <a:lnSpc>
                          <a:spcPct val="110000"/>
                        </a:lnSpc>
                        <a:spcBef>
                          <a:spcPts val="600"/>
                        </a:spcBef>
                        <a:spcAft>
                          <a:spcPts val="0"/>
                        </a:spcAft>
                        <a:buClr>
                          <a:srgbClr val="000000"/>
                        </a:buClr>
                        <a:buFont typeface="Arial" panose="020B0604020202020204" pitchFamily="34" charset="0"/>
                        <a:buChar char="•"/>
                      </a:pPr>
                      <a:r>
                        <a:rPr lang="en-IN" sz="1100" b="0" u="none" strike="noStrike" cap="none" dirty="0">
                          <a:solidFill>
                            <a:schemeClr val="tx1"/>
                          </a:solidFill>
                          <a:effectLst/>
                          <a:sym typeface="Arial"/>
                        </a:rPr>
                        <a:t>Admission source </a:t>
                      </a:r>
                    </a:p>
                    <a:p>
                      <a:pPr marL="171450" marR="0" lvl="0" indent="-171450" algn="l" rtl="0">
                        <a:lnSpc>
                          <a:spcPct val="110000"/>
                        </a:lnSpc>
                        <a:spcBef>
                          <a:spcPts val="600"/>
                        </a:spcBef>
                        <a:spcAft>
                          <a:spcPts val="0"/>
                        </a:spcAft>
                        <a:buClr>
                          <a:srgbClr val="000000"/>
                        </a:buClr>
                        <a:buFont typeface="Arial" panose="020B0604020202020204" pitchFamily="34" charset="0"/>
                        <a:buChar char="•"/>
                      </a:pPr>
                      <a:r>
                        <a:rPr lang="en-IN" sz="1100" b="0" u="none" strike="noStrike" cap="none" dirty="0">
                          <a:solidFill>
                            <a:schemeClr val="tx1"/>
                          </a:solidFill>
                          <a:effectLst/>
                          <a:sym typeface="Arial"/>
                        </a:rPr>
                        <a:t>Length of hospital stay</a:t>
                      </a:r>
                      <a:endParaRPr lang="en-IN" sz="11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171450" lvl="0" indent="-171450">
                        <a:lnSpc>
                          <a:spcPct val="110000"/>
                        </a:lnSpc>
                        <a:buFont typeface="Arial" panose="020B0604020202020204" pitchFamily="34" charset="0"/>
                        <a:buChar char="•"/>
                      </a:pPr>
                      <a:r>
                        <a:rPr lang="en-IN" sz="1100" b="0" u="none" strike="noStrike" cap="none" dirty="0">
                          <a:solidFill>
                            <a:schemeClr val="tx1"/>
                          </a:solidFill>
                          <a:effectLst/>
                          <a:sym typeface="Arial"/>
                        </a:rPr>
                        <a:t>Number of lab procedures </a:t>
                      </a:r>
                    </a:p>
                    <a:p>
                      <a:pPr marL="171450" lvl="0" indent="-171450">
                        <a:lnSpc>
                          <a:spcPct val="110000"/>
                        </a:lnSpc>
                        <a:spcBef>
                          <a:spcPts val="600"/>
                        </a:spcBef>
                        <a:buFont typeface="Arial" panose="020B0604020202020204" pitchFamily="34" charset="0"/>
                        <a:buChar char="•"/>
                      </a:pPr>
                      <a:r>
                        <a:rPr lang="en-IN" sz="1100" b="0" u="none" strike="noStrike" cap="none" dirty="0">
                          <a:solidFill>
                            <a:schemeClr val="tx1"/>
                          </a:solidFill>
                          <a:effectLst/>
                          <a:sym typeface="Arial"/>
                        </a:rPr>
                        <a:t>Number of medications </a:t>
                      </a:r>
                    </a:p>
                    <a:p>
                      <a:pPr marL="171450" lvl="0" indent="-171450">
                        <a:lnSpc>
                          <a:spcPct val="110000"/>
                        </a:lnSpc>
                        <a:spcBef>
                          <a:spcPts val="600"/>
                        </a:spcBef>
                        <a:buFont typeface="Arial" panose="020B0604020202020204" pitchFamily="34" charset="0"/>
                        <a:buChar char="•"/>
                      </a:pPr>
                      <a:r>
                        <a:rPr lang="en-IN" sz="1100" b="0" u="none" strike="noStrike" cap="none" dirty="0">
                          <a:solidFill>
                            <a:schemeClr val="tx1"/>
                          </a:solidFill>
                          <a:effectLst/>
                          <a:sym typeface="Arial"/>
                        </a:rPr>
                        <a:t>Number of procedures </a:t>
                      </a:r>
                    </a:p>
                    <a:p>
                      <a:pPr marL="171450" lvl="0" indent="-171450">
                        <a:lnSpc>
                          <a:spcPct val="110000"/>
                        </a:lnSpc>
                        <a:spcBef>
                          <a:spcPts val="600"/>
                        </a:spcBef>
                        <a:buFont typeface="Arial" panose="020B0604020202020204" pitchFamily="34" charset="0"/>
                        <a:buChar char="•"/>
                      </a:pPr>
                      <a:r>
                        <a:rPr lang="en-IN" sz="1100" b="0" u="none" strike="noStrike" cap="none" dirty="0">
                          <a:solidFill>
                            <a:schemeClr val="tx1"/>
                          </a:solidFill>
                          <a:effectLst/>
                          <a:sym typeface="Arial"/>
                        </a:rPr>
                        <a:t>Number of diagnoses </a:t>
                      </a:r>
                    </a:p>
                    <a:p>
                      <a:pPr marL="171450" indent="-171450">
                        <a:lnSpc>
                          <a:spcPct val="110000"/>
                        </a:lnSpc>
                        <a:buFont typeface="Arial" panose="020B0604020202020204" pitchFamily="34" charset="0"/>
                        <a:buChar char="•"/>
                      </a:pPr>
                      <a:endParaRPr lang="en-IN" sz="11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171450" lvl="0" indent="-171450">
                        <a:lnSpc>
                          <a:spcPct val="110000"/>
                        </a:lnSpc>
                        <a:buFont typeface="Arial" panose="020B0604020202020204" pitchFamily="34" charset="0"/>
                        <a:buChar char="•"/>
                      </a:pPr>
                      <a:r>
                        <a:rPr lang="en-IN" sz="1100" b="0" u="none" strike="noStrike" cap="none" dirty="0">
                          <a:solidFill>
                            <a:schemeClr val="tx1"/>
                          </a:solidFill>
                          <a:effectLst/>
                          <a:sym typeface="Arial"/>
                        </a:rPr>
                        <a:t>Number of outpatient visits </a:t>
                      </a:r>
                    </a:p>
                    <a:p>
                      <a:pPr marL="171450" lvl="0" indent="-171450">
                        <a:lnSpc>
                          <a:spcPct val="110000"/>
                        </a:lnSpc>
                        <a:spcBef>
                          <a:spcPts val="600"/>
                        </a:spcBef>
                        <a:buFont typeface="Arial" panose="020B0604020202020204" pitchFamily="34" charset="0"/>
                        <a:buChar char="•"/>
                      </a:pPr>
                      <a:r>
                        <a:rPr lang="en-IN" sz="1100" b="0" u="none" strike="noStrike" cap="none" dirty="0">
                          <a:solidFill>
                            <a:schemeClr val="tx1"/>
                          </a:solidFill>
                          <a:effectLst/>
                          <a:sym typeface="Arial"/>
                        </a:rPr>
                        <a:t>Number of emergency visits </a:t>
                      </a:r>
                    </a:p>
                    <a:p>
                      <a:pPr marL="171450" lvl="0" indent="-171450">
                        <a:lnSpc>
                          <a:spcPct val="110000"/>
                        </a:lnSpc>
                        <a:spcBef>
                          <a:spcPts val="600"/>
                        </a:spcBef>
                        <a:buFont typeface="Arial" panose="020B0604020202020204" pitchFamily="34" charset="0"/>
                        <a:buChar char="•"/>
                      </a:pPr>
                      <a:r>
                        <a:rPr lang="en-IN" sz="1100" b="0" u="none" strike="noStrike" cap="none" dirty="0">
                          <a:solidFill>
                            <a:schemeClr val="tx1"/>
                          </a:solidFill>
                          <a:effectLst/>
                          <a:sym typeface="Arial"/>
                        </a:rPr>
                        <a:t>Number of inpatient visits </a:t>
                      </a:r>
                    </a:p>
                    <a:p>
                      <a:pPr marL="171450" indent="-171450">
                        <a:lnSpc>
                          <a:spcPct val="110000"/>
                        </a:lnSpc>
                        <a:buFont typeface="Arial" panose="020B0604020202020204" pitchFamily="34" charset="0"/>
                        <a:buChar char="•"/>
                      </a:pPr>
                      <a:endParaRPr lang="en-IN" sz="11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171450" lvl="0" indent="-171450">
                        <a:lnSpc>
                          <a:spcPct val="110000"/>
                        </a:lnSpc>
                        <a:buFont typeface="Arial" panose="020B0604020202020204" pitchFamily="34" charset="0"/>
                        <a:buChar char="•"/>
                      </a:pPr>
                      <a:r>
                        <a:rPr lang="en-IN" sz="1100" b="0" u="none" strike="noStrike" cap="none" dirty="0">
                          <a:solidFill>
                            <a:schemeClr val="tx1"/>
                          </a:solidFill>
                          <a:effectLst/>
                          <a:sym typeface="Arial"/>
                        </a:rPr>
                        <a:t>Insulin usage </a:t>
                      </a:r>
                    </a:p>
                    <a:p>
                      <a:pPr marL="171450" lvl="0" indent="-171450">
                        <a:lnSpc>
                          <a:spcPct val="110000"/>
                        </a:lnSpc>
                        <a:spcBef>
                          <a:spcPts val="600"/>
                        </a:spcBef>
                        <a:buFont typeface="Arial" panose="020B0604020202020204" pitchFamily="34" charset="0"/>
                        <a:buChar char="•"/>
                      </a:pPr>
                      <a:r>
                        <a:rPr lang="en-IN" sz="1100" b="0" u="none" strike="noStrike" cap="none" dirty="0">
                          <a:solidFill>
                            <a:schemeClr val="tx1"/>
                          </a:solidFill>
                          <a:effectLst/>
                          <a:sym typeface="Arial"/>
                        </a:rPr>
                        <a:t>Medication changes </a:t>
                      </a:r>
                    </a:p>
                    <a:p>
                      <a:pPr marL="171450" indent="-171450">
                        <a:lnSpc>
                          <a:spcPct val="110000"/>
                        </a:lnSpc>
                        <a:buFont typeface="Arial" panose="020B0604020202020204" pitchFamily="34" charset="0"/>
                        <a:buChar char="•"/>
                      </a:pPr>
                      <a:endParaRPr lang="en-IN" sz="11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171450" lvl="0" indent="-171450">
                        <a:lnSpc>
                          <a:spcPct val="110000"/>
                        </a:lnSpc>
                        <a:buFont typeface="Arial" panose="020B0604020202020204" pitchFamily="34" charset="0"/>
                        <a:buChar char="•"/>
                      </a:pPr>
                      <a:r>
                        <a:rPr lang="en-IN" sz="1100" b="0" u="none" strike="noStrike" cap="none" dirty="0">
                          <a:solidFill>
                            <a:schemeClr val="tx1"/>
                          </a:solidFill>
                          <a:effectLst/>
                          <a:sym typeface="Arial"/>
                        </a:rPr>
                        <a:t>NO → Not readmitted </a:t>
                      </a:r>
                    </a:p>
                    <a:p>
                      <a:pPr marL="171450" lvl="0" indent="-171450">
                        <a:lnSpc>
                          <a:spcPct val="110000"/>
                        </a:lnSpc>
                        <a:spcBef>
                          <a:spcPts val="600"/>
                        </a:spcBef>
                        <a:buFont typeface="Arial" panose="020B0604020202020204" pitchFamily="34" charset="0"/>
                        <a:buChar char="•"/>
                      </a:pPr>
                      <a:r>
                        <a:rPr lang="en-IN" sz="1100" b="0" u="none" strike="noStrike" cap="none" dirty="0">
                          <a:solidFill>
                            <a:schemeClr val="tx1"/>
                          </a:solidFill>
                          <a:effectLst/>
                          <a:sym typeface="Arial"/>
                        </a:rPr>
                        <a:t>&gt; 30 → Readmitted after 30 days </a:t>
                      </a:r>
                    </a:p>
                    <a:p>
                      <a:pPr marL="171450" lvl="0" indent="-171450">
                        <a:lnSpc>
                          <a:spcPct val="110000"/>
                        </a:lnSpc>
                        <a:spcBef>
                          <a:spcPts val="600"/>
                        </a:spcBef>
                        <a:buFont typeface="Arial" panose="020B0604020202020204" pitchFamily="34" charset="0"/>
                        <a:buChar char="•"/>
                      </a:pPr>
                      <a:r>
                        <a:rPr lang="en-IN" sz="1100" b="0" u="none" strike="noStrike" cap="none" dirty="0">
                          <a:solidFill>
                            <a:schemeClr val="tx1"/>
                          </a:solidFill>
                          <a:effectLst/>
                          <a:sym typeface="Arial"/>
                        </a:rPr>
                        <a:t>&lt; 30 → Readmitted within 30 days </a:t>
                      </a:r>
                    </a:p>
                    <a:p>
                      <a:pPr marL="171450" indent="-171450">
                        <a:lnSpc>
                          <a:spcPct val="110000"/>
                        </a:lnSpc>
                        <a:buFont typeface="Arial" panose="020B0604020202020204" pitchFamily="34" charset="0"/>
                        <a:buChar char="•"/>
                      </a:pPr>
                      <a:endParaRPr lang="en-IN" sz="11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701906780"/>
                  </a:ext>
                </a:extLst>
              </a:tr>
            </a:tbl>
          </a:graphicData>
        </a:graphic>
      </p:graphicFrame>
    </p:spTree>
    <p:extLst>
      <p:ext uri="{BB962C8B-B14F-4D97-AF65-F5344CB8AC3E}">
        <p14:creationId xmlns:p14="http://schemas.microsoft.com/office/powerpoint/2010/main" val="40730410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A8D52B3-E8D4-CCAD-B248-EF1DB98A412A}"/>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A1C084D6-05DA-541C-11FC-14FD02203860}"/>
              </a:ext>
            </a:extLst>
          </p:cNvPr>
          <p:cNvSpPr>
            <a:spLocks noGrp="1"/>
          </p:cNvSpPr>
          <p:nvPr>
            <p:ph type="title"/>
          </p:nvPr>
        </p:nvSpPr>
        <p:spPr>
          <a:xfrm>
            <a:off x="201972" y="288368"/>
            <a:ext cx="8520600" cy="572700"/>
          </a:xfrm>
        </p:spPr>
        <p:txBody>
          <a:bodyPr wrap="square" anchor="ctr">
            <a:noAutofit/>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Approach</a:t>
            </a:r>
          </a:p>
        </p:txBody>
      </p:sp>
      <p:sp>
        <p:nvSpPr>
          <p:cNvPr id="3" name="TextBox 2">
            <a:extLst>
              <a:ext uri="{FF2B5EF4-FFF2-40B4-BE49-F238E27FC236}">
                <a16:creationId xmlns:a16="http://schemas.microsoft.com/office/drawing/2014/main" id="{89DE03BC-2089-6909-6043-3E955C1F6188}"/>
              </a:ext>
            </a:extLst>
          </p:cNvPr>
          <p:cNvSpPr txBox="1"/>
          <p:nvPr/>
        </p:nvSpPr>
        <p:spPr>
          <a:xfrm>
            <a:off x="258678" y="861068"/>
            <a:ext cx="8360781" cy="691600"/>
          </a:xfrm>
          <a:prstGeom prst="rect">
            <a:avLst/>
          </a:prstGeom>
          <a:noFill/>
        </p:spPr>
        <p:txBody>
          <a:bodyPr wrap="square" rtlCol="0">
            <a:spAutoFit/>
          </a:bodyPr>
          <a:lstStyle/>
          <a:p>
            <a:pPr marL="171450" indent="-171450">
              <a:lnSpc>
                <a:spcPct val="110000"/>
              </a:lnSpc>
              <a:buFont typeface="Arial" panose="020B0604020202020204" pitchFamily="34" charset="0"/>
              <a:buChar char="•"/>
            </a:pPr>
            <a:r>
              <a:rPr lang="en-IN" sz="1200" b="1" dirty="0">
                <a:latin typeface="Calibri" panose="020F0502020204030204" pitchFamily="34" charset="0"/>
                <a:ea typeface="Calibri" panose="020F0502020204030204" pitchFamily="34" charset="0"/>
                <a:cs typeface="Calibri" panose="020F0502020204030204" pitchFamily="34" charset="0"/>
              </a:rPr>
              <a:t>Data Preprocessing </a:t>
            </a:r>
            <a:r>
              <a:rPr lang="en-IN" sz="1200" dirty="0">
                <a:latin typeface="Calibri" panose="020F0502020204030204" pitchFamily="34" charset="0"/>
                <a:ea typeface="Calibri" panose="020F0502020204030204" pitchFamily="34" charset="0"/>
                <a:cs typeface="Calibri" panose="020F0502020204030204" pitchFamily="34" charset="0"/>
              </a:rPr>
              <a:t>: Missing value Handling, Encoding categorical variables, Feature selection, Target transformation</a:t>
            </a:r>
          </a:p>
          <a:p>
            <a:pPr marL="171450" indent="-171450">
              <a:lnSpc>
                <a:spcPct val="110000"/>
              </a:lnSpc>
              <a:buFont typeface="Arial" panose="020B0604020202020204" pitchFamily="34" charset="0"/>
              <a:buChar char="•"/>
            </a:pPr>
            <a:r>
              <a:rPr lang="en-IN" sz="1200" b="1" dirty="0">
                <a:latin typeface="Calibri" panose="020F0502020204030204" pitchFamily="34" charset="0"/>
                <a:ea typeface="Calibri" panose="020F0502020204030204" pitchFamily="34" charset="0"/>
                <a:cs typeface="Calibri" panose="020F0502020204030204" pitchFamily="34" charset="0"/>
              </a:rPr>
              <a:t>Modelling</a:t>
            </a:r>
            <a:r>
              <a:rPr lang="en-IN" sz="1200" dirty="0">
                <a:latin typeface="Calibri" panose="020F0502020204030204" pitchFamily="34" charset="0"/>
                <a:ea typeface="Calibri" panose="020F0502020204030204" pitchFamily="34" charset="0"/>
                <a:cs typeface="Calibri" panose="020F0502020204030204" pitchFamily="34" charset="0"/>
              </a:rPr>
              <a:t> : Binary classification (Logistic regression), prediction, additional model – Random Forest, Gradient Boost</a:t>
            </a:r>
          </a:p>
          <a:p>
            <a:pPr marL="171450" indent="-171450">
              <a:lnSpc>
                <a:spcPct val="110000"/>
              </a:lnSpc>
              <a:buFont typeface="Arial" panose="020B0604020202020204" pitchFamily="34" charset="0"/>
              <a:buChar char="•"/>
            </a:pPr>
            <a:r>
              <a:rPr lang="en-IN" sz="1200" b="1" dirty="0">
                <a:latin typeface="Calibri" panose="020F0502020204030204" pitchFamily="34" charset="0"/>
                <a:ea typeface="Calibri" panose="020F0502020204030204" pitchFamily="34" charset="0"/>
                <a:cs typeface="Calibri" panose="020F0502020204030204" pitchFamily="34" charset="0"/>
              </a:rPr>
              <a:t>Bias analysis </a:t>
            </a:r>
            <a:r>
              <a:rPr lang="en-IN" sz="1200" dirty="0">
                <a:latin typeface="Calibri" panose="020F0502020204030204" pitchFamily="34" charset="0"/>
                <a:ea typeface="Calibri" panose="020F0502020204030204" pitchFamily="34" charset="0"/>
                <a:cs typeface="Calibri" panose="020F0502020204030204" pitchFamily="34" charset="0"/>
              </a:rPr>
              <a:t>: RQ1 (Group wise performance selection), RQ2 (Disparity analysis), RQ3 (Dataset balancing), RQ4 (Bias mitigation)</a:t>
            </a:r>
          </a:p>
        </p:txBody>
      </p:sp>
      <p:graphicFrame>
        <p:nvGraphicFramePr>
          <p:cNvPr id="4" name="Table 3">
            <a:extLst>
              <a:ext uri="{FF2B5EF4-FFF2-40B4-BE49-F238E27FC236}">
                <a16:creationId xmlns:a16="http://schemas.microsoft.com/office/drawing/2014/main" id="{38B304CE-39B9-7C2D-D460-67D55B52E62A}"/>
              </a:ext>
            </a:extLst>
          </p:cNvPr>
          <p:cNvGraphicFramePr>
            <a:graphicFrameLocks noGrp="1"/>
          </p:cNvGraphicFramePr>
          <p:nvPr>
            <p:extLst>
              <p:ext uri="{D42A27DB-BD31-4B8C-83A1-F6EECF244321}">
                <p14:modId xmlns:p14="http://schemas.microsoft.com/office/powerpoint/2010/main" val="3895418682"/>
              </p:ext>
            </p:extLst>
          </p:nvPr>
        </p:nvGraphicFramePr>
        <p:xfrm>
          <a:off x="406117" y="1627591"/>
          <a:ext cx="8489910" cy="3605003"/>
        </p:xfrm>
        <a:graphic>
          <a:graphicData uri="http://schemas.openxmlformats.org/drawingml/2006/table">
            <a:tbl>
              <a:tblPr>
                <a:tableStyleId>{68D230F3-CF80-4859-8CE7-A43EE81993B5}</a:tableStyleId>
              </a:tblPr>
              <a:tblGrid>
                <a:gridCol w="454039">
                  <a:extLst>
                    <a:ext uri="{9D8B030D-6E8A-4147-A177-3AD203B41FA5}">
                      <a16:colId xmlns:a16="http://schemas.microsoft.com/office/drawing/2014/main" val="1708329505"/>
                    </a:ext>
                  </a:extLst>
                </a:gridCol>
                <a:gridCol w="1193370">
                  <a:extLst>
                    <a:ext uri="{9D8B030D-6E8A-4147-A177-3AD203B41FA5}">
                      <a16:colId xmlns:a16="http://schemas.microsoft.com/office/drawing/2014/main" val="1885472224"/>
                    </a:ext>
                  </a:extLst>
                </a:gridCol>
                <a:gridCol w="1427672">
                  <a:extLst>
                    <a:ext uri="{9D8B030D-6E8A-4147-A177-3AD203B41FA5}">
                      <a16:colId xmlns:a16="http://schemas.microsoft.com/office/drawing/2014/main" val="4057265753"/>
                    </a:ext>
                  </a:extLst>
                </a:gridCol>
                <a:gridCol w="1025027">
                  <a:extLst>
                    <a:ext uri="{9D8B030D-6E8A-4147-A177-3AD203B41FA5}">
                      <a16:colId xmlns:a16="http://schemas.microsoft.com/office/drawing/2014/main" val="261525316"/>
                    </a:ext>
                  </a:extLst>
                </a:gridCol>
                <a:gridCol w="1025027">
                  <a:extLst>
                    <a:ext uri="{9D8B030D-6E8A-4147-A177-3AD203B41FA5}">
                      <a16:colId xmlns:a16="http://schemas.microsoft.com/office/drawing/2014/main" val="1999402214"/>
                    </a:ext>
                  </a:extLst>
                </a:gridCol>
                <a:gridCol w="1025027">
                  <a:extLst>
                    <a:ext uri="{9D8B030D-6E8A-4147-A177-3AD203B41FA5}">
                      <a16:colId xmlns:a16="http://schemas.microsoft.com/office/drawing/2014/main" val="2963462119"/>
                    </a:ext>
                  </a:extLst>
                </a:gridCol>
                <a:gridCol w="1025027">
                  <a:extLst>
                    <a:ext uri="{9D8B030D-6E8A-4147-A177-3AD203B41FA5}">
                      <a16:colId xmlns:a16="http://schemas.microsoft.com/office/drawing/2014/main" val="1083555132"/>
                    </a:ext>
                  </a:extLst>
                </a:gridCol>
                <a:gridCol w="1314721">
                  <a:extLst>
                    <a:ext uri="{9D8B030D-6E8A-4147-A177-3AD203B41FA5}">
                      <a16:colId xmlns:a16="http://schemas.microsoft.com/office/drawing/2014/main" val="1056006652"/>
                    </a:ext>
                  </a:extLst>
                </a:gridCol>
              </a:tblGrid>
              <a:tr h="229554">
                <a:tc>
                  <a:txBody>
                    <a:bodyPr/>
                    <a:lstStyle/>
                    <a:p>
                      <a:pPr>
                        <a:buNone/>
                      </a:pPr>
                      <a:r>
                        <a:rPr lang="en-IN" sz="1100" b="1" dirty="0">
                          <a:solidFill>
                            <a:schemeClr val="bg1"/>
                          </a:solidFill>
                        </a:rPr>
                        <a:t>RQ</a:t>
                      </a:r>
                      <a:endParaRPr lang="en-IN" sz="11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B w="12700" cap="flat" cmpd="sng" algn="ctr">
                      <a:solidFill>
                        <a:schemeClr val="tx1"/>
                      </a:solidFill>
                      <a:prstDash val="solid"/>
                      <a:round/>
                      <a:headEnd type="none" w="med" len="med"/>
                      <a:tailEnd type="none" w="med" len="med"/>
                    </a:lnB>
                    <a:solidFill>
                      <a:schemeClr val="tx1"/>
                    </a:solidFill>
                  </a:tcPr>
                </a:tc>
                <a:tc>
                  <a:txBody>
                    <a:bodyPr/>
                    <a:lstStyle/>
                    <a:p>
                      <a:pPr>
                        <a:buNone/>
                      </a:pPr>
                      <a:r>
                        <a:rPr lang="en-IN" sz="1100" b="1" dirty="0">
                          <a:solidFill>
                            <a:schemeClr val="bg1"/>
                          </a:solidFill>
                        </a:rPr>
                        <a:t>Goal</a:t>
                      </a:r>
                      <a:endParaRPr lang="en-IN" sz="11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B w="12700" cap="flat" cmpd="sng" algn="ctr">
                      <a:solidFill>
                        <a:schemeClr val="tx1"/>
                      </a:solidFill>
                      <a:prstDash val="solid"/>
                      <a:round/>
                      <a:headEnd type="none" w="med" len="med"/>
                      <a:tailEnd type="none" w="med" len="med"/>
                    </a:lnB>
                    <a:solidFill>
                      <a:schemeClr val="tx1"/>
                    </a:solidFill>
                  </a:tcPr>
                </a:tc>
                <a:tc>
                  <a:txBody>
                    <a:bodyPr/>
                    <a:lstStyle/>
                    <a:p>
                      <a:pPr>
                        <a:buNone/>
                      </a:pPr>
                      <a:r>
                        <a:rPr lang="en-IN" sz="1100" b="1" dirty="0">
                          <a:solidFill>
                            <a:schemeClr val="bg1"/>
                          </a:solidFill>
                        </a:rPr>
                        <a:t>Core Question</a:t>
                      </a:r>
                      <a:endParaRPr lang="en-IN" sz="11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B w="12700" cap="flat" cmpd="sng" algn="ctr">
                      <a:solidFill>
                        <a:schemeClr val="tx1"/>
                      </a:solidFill>
                      <a:prstDash val="solid"/>
                      <a:round/>
                      <a:headEnd type="none" w="med" len="med"/>
                      <a:tailEnd type="none" w="med" len="med"/>
                    </a:lnB>
                    <a:solidFill>
                      <a:schemeClr val="tx1"/>
                    </a:solidFill>
                  </a:tcPr>
                </a:tc>
                <a:tc>
                  <a:txBody>
                    <a:bodyPr/>
                    <a:lstStyle/>
                    <a:p>
                      <a:pPr>
                        <a:buNone/>
                      </a:pPr>
                      <a:r>
                        <a:rPr lang="en-IN" sz="1100" b="1" dirty="0">
                          <a:solidFill>
                            <a:schemeClr val="bg1"/>
                          </a:solidFill>
                        </a:rPr>
                        <a:t>Focus Area</a:t>
                      </a:r>
                      <a:endParaRPr lang="en-IN" sz="11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B w="12700" cap="flat" cmpd="sng" algn="ctr">
                      <a:solidFill>
                        <a:schemeClr val="tx1"/>
                      </a:solidFill>
                      <a:prstDash val="solid"/>
                      <a:round/>
                      <a:headEnd type="none" w="med" len="med"/>
                      <a:tailEnd type="none" w="med" len="med"/>
                    </a:lnB>
                    <a:solidFill>
                      <a:schemeClr val="tx1"/>
                    </a:solidFill>
                  </a:tcPr>
                </a:tc>
                <a:tc>
                  <a:txBody>
                    <a:bodyPr/>
                    <a:lstStyle/>
                    <a:p>
                      <a:pPr>
                        <a:buNone/>
                      </a:pPr>
                      <a:r>
                        <a:rPr lang="en-IN" sz="1100" b="1" dirty="0">
                          <a:solidFill>
                            <a:schemeClr val="bg1"/>
                          </a:solidFill>
                        </a:rPr>
                        <a:t>Data Used</a:t>
                      </a:r>
                      <a:endParaRPr lang="en-IN" sz="11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B w="12700" cap="flat" cmpd="sng" algn="ctr">
                      <a:solidFill>
                        <a:schemeClr val="tx1"/>
                      </a:solidFill>
                      <a:prstDash val="solid"/>
                      <a:round/>
                      <a:headEnd type="none" w="med" len="med"/>
                      <a:tailEnd type="none" w="med" len="med"/>
                    </a:lnB>
                    <a:solidFill>
                      <a:schemeClr val="tx1"/>
                    </a:solidFill>
                  </a:tcPr>
                </a:tc>
                <a:tc>
                  <a:txBody>
                    <a:bodyPr/>
                    <a:lstStyle/>
                    <a:p>
                      <a:pPr>
                        <a:buNone/>
                      </a:pPr>
                      <a:r>
                        <a:rPr lang="en-IN" sz="1100" b="1" dirty="0">
                          <a:solidFill>
                            <a:schemeClr val="bg1"/>
                          </a:solidFill>
                        </a:rPr>
                        <a:t>Key Metric</a:t>
                      </a:r>
                      <a:endParaRPr lang="en-IN" sz="11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B w="12700" cap="flat" cmpd="sng" algn="ctr">
                      <a:solidFill>
                        <a:schemeClr val="tx1"/>
                      </a:solidFill>
                      <a:prstDash val="solid"/>
                      <a:round/>
                      <a:headEnd type="none" w="med" len="med"/>
                      <a:tailEnd type="none" w="med" len="med"/>
                    </a:lnB>
                    <a:solidFill>
                      <a:schemeClr val="tx1"/>
                    </a:solidFill>
                  </a:tcPr>
                </a:tc>
                <a:tc>
                  <a:txBody>
                    <a:bodyPr/>
                    <a:lstStyle/>
                    <a:p>
                      <a:pPr>
                        <a:buNone/>
                      </a:pPr>
                      <a:r>
                        <a:rPr lang="en-IN" sz="1100" b="1" dirty="0">
                          <a:solidFill>
                            <a:schemeClr val="bg1"/>
                          </a:solidFill>
                        </a:rPr>
                        <a:t>Statistical Test</a:t>
                      </a:r>
                      <a:endParaRPr lang="en-IN" sz="11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B w="12700" cap="flat" cmpd="sng" algn="ctr">
                      <a:solidFill>
                        <a:schemeClr val="tx1"/>
                      </a:solidFill>
                      <a:prstDash val="solid"/>
                      <a:round/>
                      <a:headEnd type="none" w="med" len="med"/>
                      <a:tailEnd type="none" w="med" len="med"/>
                    </a:lnB>
                    <a:solidFill>
                      <a:schemeClr val="tx1"/>
                    </a:solidFill>
                  </a:tcPr>
                </a:tc>
                <a:tc>
                  <a:txBody>
                    <a:bodyPr/>
                    <a:lstStyle/>
                    <a:p>
                      <a:pPr>
                        <a:buNone/>
                      </a:pPr>
                      <a:r>
                        <a:rPr lang="en-IN" sz="1100" b="1" dirty="0">
                          <a:solidFill>
                            <a:schemeClr val="bg1"/>
                          </a:solidFill>
                        </a:rPr>
                        <a:t>Why It Matters</a:t>
                      </a:r>
                      <a:endParaRPr lang="en-IN" sz="11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550013859"/>
                  </a:ext>
                </a:extLst>
              </a:tr>
              <a:tr h="796686">
                <a:tc>
                  <a:txBody>
                    <a:bodyPr/>
                    <a:lstStyle/>
                    <a:p>
                      <a:pPr>
                        <a:buNone/>
                      </a:pPr>
                      <a:r>
                        <a:rPr lang="en-IN" sz="1000" b="1"/>
                        <a:t>RQ1</a:t>
                      </a:r>
                      <a:endParaRPr lang="en-IN" sz="100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000" dirty="0"/>
                        <a:t>Detect general bias</a:t>
                      </a:r>
                      <a:endParaRPr lang="en-IN" sz="10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000" dirty="0"/>
                        <a:t>Does model performance differ across groups?</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000" dirty="0"/>
                        <a:t>Overall correctness</a:t>
                      </a:r>
                      <a:endParaRPr lang="en-IN" sz="10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000" dirty="0"/>
                        <a:t>All test data</a:t>
                      </a:r>
                      <a:endParaRPr lang="en-IN" sz="10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000"/>
                        <a:t>Accuracy (correct vs incorrect)</a:t>
                      </a:r>
                      <a:endParaRPr lang="en-IN" sz="100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000"/>
                        <a:t>Chi-square / Two-proportion test</a:t>
                      </a:r>
                      <a:endParaRPr lang="en-IN" sz="100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800" dirty="0"/>
                        <a:t>Identifies whether the model is equally reliable across demographic groups</a:t>
                      </a:r>
                      <a:endParaRPr lang="en-US" sz="8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7995434"/>
                  </a:ext>
                </a:extLst>
              </a:tr>
              <a:tr h="796686">
                <a:tc>
                  <a:txBody>
                    <a:bodyPr/>
                    <a:lstStyle/>
                    <a:p>
                      <a:pPr>
                        <a:buNone/>
                      </a:pPr>
                      <a:r>
                        <a:rPr lang="en-IN" sz="1000" b="1"/>
                        <a:t>RQ2</a:t>
                      </a:r>
                      <a:endParaRPr lang="en-IN" sz="100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000" dirty="0"/>
                        <a:t>Detect harmful bias</a:t>
                      </a:r>
                      <a:endParaRPr lang="en-IN" sz="10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000" dirty="0"/>
                        <a:t>Are high-risk patients missed more in certain groups?</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000" dirty="0"/>
                        <a:t>Critical errors</a:t>
                      </a:r>
                      <a:endParaRPr lang="en-IN" sz="10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000"/>
                        <a:t>Only actual readmitted patients</a:t>
                      </a:r>
                      <a:endParaRPr lang="en-IN" sz="100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000"/>
                        <a:t>False Negative Rate (FNR)</a:t>
                      </a:r>
                      <a:endParaRPr lang="en-IN" sz="100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000"/>
                        <a:t>Chi-square / Two-proportion test</a:t>
                      </a:r>
                      <a:endParaRPr lang="en-IN" sz="100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800" dirty="0"/>
                        <a:t>Highlights inequity in identifying high-risk patients (most important clinically)</a:t>
                      </a:r>
                      <a:endParaRPr lang="en-US" sz="8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6797164"/>
                  </a:ext>
                </a:extLst>
              </a:tr>
              <a:tr h="607642">
                <a:tc>
                  <a:txBody>
                    <a:bodyPr/>
                    <a:lstStyle/>
                    <a:p>
                      <a:pPr>
                        <a:buNone/>
                      </a:pPr>
                      <a:r>
                        <a:rPr lang="en-IN" sz="1000" b="1"/>
                        <a:t>RQ3</a:t>
                      </a:r>
                      <a:endParaRPr lang="en-IN" sz="100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000"/>
                        <a:t>Explain bias</a:t>
                      </a:r>
                      <a:endParaRPr lang="en-IN" sz="100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000"/>
                        <a:t>Is bias caused by dataset imbalance?</a:t>
                      </a:r>
                      <a:endParaRPr lang="en-US" sz="100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000" dirty="0"/>
                        <a:t>Source of disparity</a:t>
                      </a:r>
                      <a:endParaRPr lang="en-IN" sz="10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000" dirty="0"/>
                        <a:t>Repeated model runs (original vs rebalanced data)</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000" dirty="0"/>
                        <a:t>FNR Gap (difference across groups)</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000"/>
                        <a:t>Paired t-test / Wilcoxon</a:t>
                      </a:r>
                      <a:endParaRPr lang="en-IN" sz="100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800" dirty="0"/>
                        <a:t>Determines whether bias arises from data distribution issues</a:t>
                      </a:r>
                      <a:endParaRPr lang="en-US" sz="8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8904343"/>
                  </a:ext>
                </a:extLst>
              </a:tr>
              <a:tr h="985731">
                <a:tc>
                  <a:txBody>
                    <a:bodyPr/>
                    <a:lstStyle/>
                    <a:p>
                      <a:pPr>
                        <a:buNone/>
                      </a:pPr>
                      <a:r>
                        <a:rPr lang="en-IN" sz="1000" b="1"/>
                        <a:t>RQ4</a:t>
                      </a:r>
                      <a:endParaRPr lang="en-IN" sz="100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tcPr>
                </a:tc>
                <a:tc>
                  <a:txBody>
                    <a:bodyPr/>
                    <a:lstStyle/>
                    <a:p>
                      <a:pPr>
                        <a:buNone/>
                      </a:pPr>
                      <a:r>
                        <a:rPr lang="en-IN" sz="1000" dirty="0"/>
                        <a:t>Solve bias</a:t>
                      </a:r>
                      <a:endParaRPr lang="en-IN" sz="10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tcPr>
                </a:tc>
                <a:tc>
                  <a:txBody>
                    <a:bodyPr/>
                    <a:lstStyle/>
                    <a:p>
                      <a:pPr>
                        <a:buNone/>
                      </a:pPr>
                      <a:r>
                        <a:rPr lang="en-US" sz="1000"/>
                        <a:t>Can bias be reduced without hurting performance?</a:t>
                      </a:r>
                      <a:endParaRPr lang="en-US" sz="100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tcPr>
                </a:tc>
                <a:tc>
                  <a:txBody>
                    <a:bodyPr/>
                    <a:lstStyle/>
                    <a:p>
                      <a:pPr>
                        <a:buNone/>
                      </a:pPr>
                      <a:r>
                        <a:rPr lang="en-IN" sz="1000"/>
                        <a:t>Bias mitigation</a:t>
                      </a:r>
                      <a:endParaRPr lang="en-IN" sz="100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tcPr>
                </a:tc>
                <a:tc>
                  <a:txBody>
                    <a:bodyPr/>
                    <a:lstStyle/>
                    <a:p>
                      <a:pPr>
                        <a:buNone/>
                      </a:pPr>
                      <a:r>
                        <a:rPr lang="en-IN" sz="1000" dirty="0"/>
                        <a:t>Repeated model runs (baseline vs mitigated model)</a:t>
                      </a:r>
                      <a:endParaRPr lang="en-IN" sz="10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tcPr>
                </a:tc>
                <a:tc>
                  <a:txBody>
                    <a:bodyPr/>
                    <a:lstStyle/>
                    <a:p>
                      <a:pPr>
                        <a:buNone/>
                      </a:pPr>
                      <a:r>
                        <a:rPr lang="en-IN" sz="1000" dirty="0"/>
                        <a:t>FNR Gap + F1/AUC</a:t>
                      </a:r>
                      <a:endParaRPr lang="en-IN" sz="10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tcPr>
                </a:tc>
                <a:tc>
                  <a:txBody>
                    <a:bodyPr/>
                    <a:lstStyle/>
                    <a:p>
                      <a:pPr>
                        <a:buNone/>
                      </a:pPr>
                      <a:r>
                        <a:rPr lang="en-IN" sz="1000" dirty="0"/>
                        <a:t>Paired t-test / Wilcoxon</a:t>
                      </a:r>
                      <a:endParaRPr lang="en-IN" sz="10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tcPr>
                </a:tc>
                <a:tc>
                  <a:txBody>
                    <a:bodyPr/>
                    <a:lstStyle/>
                    <a:p>
                      <a:pPr>
                        <a:buNone/>
                      </a:pPr>
                      <a:r>
                        <a:rPr lang="en-US" sz="800" dirty="0"/>
                        <a:t>Evaluates whether fairness can be improved without compromising model effectiveness</a:t>
                      </a:r>
                      <a:endParaRPr lang="en-US" sz="800" dirty="0">
                        <a:latin typeface="Calibri" panose="020F0502020204030204" pitchFamily="34" charset="0"/>
                        <a:ea typeface="Calibri" panose="020F0502020204030204" pitchFamily="34" charset="0"/>
                        <a:cs typeface="Calibri" panose="020F0502020204030204" pitchFamily="34" charset="0"/>
                      </a:endParaRPr>
                    </a:p>
                  </a:txBody>
                  <a:tcPr marL="40509" marR="40509" marT="20255" marB="20255"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834020901"/>
                  </a:ext>
                </a:extLst>
              </a:tr>
            </a:tbl>
          </a:graphicData>
        </a:graphic>
      </p:graphicFrame>
    </p:spTree>
    <p:extLst>
      <p:ext uri="{BB962C8B-B14F-4D97-AF65-F5344CB8AC3E}">
        <p14:creationId xmlns:p14="http://schemas.microsoft.com/office/powerpoint/2010/main" val="28261333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17743A0-4348-D7A3-CC5A-19CA2F96DEDA}"/>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A0DD6797-3D6D-B6A1-905D-CFD879EEB6D0}"/>
              </a:ext>
            </a:extLst>
          </p:cNvPr>
          <p:cNvSpPr>
            <a:spLocks noGrp="1"/>
          </p:cNvSpPr>
          <p:nvPr>
            <p:ph type="title"/>
          </p:nvPr>
        </p:nvSpPr>
        <p:spPr>
          <a:xfrm>
            <a:off x="201972" y="288368"/>
            <a:ext cx="8520600" cy="572700"/>
          </a:xfrm>
        </p:spPr>
        <p:txBody>
          <a:bodyPr wrap="square" anchor="ctr">
            <a:noAutofit/>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Approach…. </a:t>
            </a:r>
            <a:r>
              <a:rPr lang="en-IN" sz="2800" dirty="0" err="1">
                <a:solidFill>
                  <a:srgbClr val="434343"/>
                </a:solidFill>
                <a:latin typeface="Calibri" panose="020F0502020204030204" pitchFamily="34" charset="0"/>
                <a:ea typeface="Calibri" panose="020F0502020204030204" pitchFamily="34" charset="0"/>
                <a:cs typeface="Calibri" panose="020F0502020204030204" pitchFamily="34" charset="0"/>
              </a:rPr>
              <a:t>contd</a:t>
            </a:r>
            <a:endPar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2" name="Table 1">
            <a:extLst>
              <a:ext uri="{FF2B5EF4-FFF2-40B4-BE49-F238E27FC236}">
                <a16:creationId xmlns:a16="http://schemas.microsoft.com/office/drawing/2014/main" id="{24EDCF51-CF38-B7BF-FB6F-D2DAE3797C49}"/>
              </a:ext>
            </a:extLst>
          </p:cNvPr>
          <p:cNvGraphicFramePr>
            <a:graphicFrameLocks noGrp="1"/>
          </p:cNvGraphicFramePr>
          <p:nvPr>
            <p:extLst>
              <p:ext uri="{D42A27DB-BD31-4B8C-83A1-F6EECF244321}">
                <p14:modId xmlns:p14="http://schemas.microsoft.com/office/powerpoint/2010/main" val="2002105298"/>
              </p:ext>
            </p:extLst>
          </p:nvPr>
        </p:nvGraphicFramePr>
        <p:xfrm>
          <a:off x="258678" y="1554445"/>
          <a:ext cx="8729377" cy="2892795"/>
        </p:xfrm>
        <a:graphic>
          <a:graphicData uri="http://schemas.openxmlformats.org/drawingml/2006/table">
            <a:tbl>
              <a:tblPr firstRow="1" firstCol="1" bandRow="1">
                <a:tableStyleId>{9D7B26C5-4107-4FEC-AEDC-1716B250A1EF}</a:tableStyleId>
              </a:tblPr>
              <a:tblGrid>
                <a:gridCol w="620278">
                  <a:extLst>
                    <a:ext uri="{9D8B030D-6E8A-4147-A177-3AD203B41FA5}">
                      <a16:colId xmlns:a16="http://schemas.microsoft.com/office/drawing/2014/main" val="1131561941"/>
                    </a:ext>
                  </a:extLst>
                </a:gridCol>
                <a:gridCol w="1520024">
                  <a:extLst>
                    <a:ext uri="{9D8B030D-6E8A-4147-A177-3AD203B41FA5}">
                      <a16:colId xmlns:a16="http://schemas.microsoft.com/office/drawing/2014/main" val="2169674154"/>
                    </a:ext>
                  </a:extLst>
                </a:gridCol>
                <a:gridCol w="1520024">
                  <a:extLst>
                    <a:ext uri="{9D8B030D-6E8A-4147-A177-3AD203B41FA5}">
                      <a16:colId xmlns:a16="http://schemas.microsoft.com/office/drawing/2014/main" val="1000759635"/>
                    </a:ext>
                  </a:extLst>
                </a:gridCol>
                <a:gridCol w="2602297">
                  <a:extLst>
                    <a:ext uri="{9D8B030D-6E8A-4147-A177-3AD203B41FA5}">
                      <a16:colId xmlns:a16="http://schemas.microsoft.com/office/drawing/2014/main" val="2546561651"/>
                    </a:ext>
                  </a:extLst>
                </a:gridCol>
                <a:gridCol w="2466754">
                  <a:extLst>
                    <a:ext uri="{9D8B030D-6E8A-4147-A177-3AD203B41FA5}">
                      <a16:colId xmlns:a16="http://schemas.microsoft.com/office/drawing/2014/main" val="2808038229"/>
                    </a:ext>
                  </a:extLst>
                </a:gridCol>
              </a:tblGrid>
              <a:tr h="329831">
                <a:tc>
                  <a:txBody>
                    <a:bodyPr/>
                    <a:lstStyle/>
                    <a:p>
                      <a:pPr marL="228600" algn="l" fontAlgn="t">
                        <a:lnSpc>
                          <a:spcPct val="100000"/>
                        </a:lnSpc>
                        <a:buNone/>
                      </a:pPr>
                      <a:r>
                        <a:rPr lang="en-IN" sz="12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RQ</a:t>
                      </a:r>
                      <a:endParaRPr lang="en-IN" sz="1200" b="1"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accent4">
                        <a:lumMod val="20000"/>
                        <a:lumOff val="80000"/>
                      </a:schemeClr>
                    </a:solidFill>
                  </a:tcPr>
                </a:tc>
                <a:tc>
                  <a:txBody>
                    <a:bodyPr/>
                    <a:lstStyle/>
                    <a:p>
                      <a:pPr marL="228600" algn="l" fontAlgn="t">
                        <a:lnSpc>
                          <a:spcPct val="100000"/>
                        </a:lnSpc>
                        <a:buNone/>
                      </a:pPr>
                      <a:r>
                        <a:rPr lang="en-IN" sz="12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Primary Metric</a:t>
                      </a:r>
                      <a:endParaRPr lang="en-IN" sz="1200" b="1"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accent4">
                        <a:lumMod val="20000"/>
                        <a:lumOff val="80000"/>
                      </a:schemeClr>
                    </a:solidFill>
                  </a:tcPr>
                </a:tc>
                <a:tc>
                  <a:txBody>
                    <a:bodyPr/>
                    <a:lstStyle/>
                    <a:p>
                      <a:pPr marL="228600" algn="l" fontAlgn="t">
                        <a:lnSpc>
                          <a:spcPct val="100000"/>
                        </a:lnSpc>
                        <a:buNone/>
                      </a:pPr>
                      <a:r>
                        <a:rPr lang="en-IN" sz="1200" b="1"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Statistic</a:t>
                      </a:r>
                    </a:p>
                  </a:txBody>
                  <a:tcPr marL="36000" marR="36000" marT="36000" marB="36000" anchor="ctr">
                    <a:solidFill>
                      <a:schemeClr val="accent4">
                        <a:lumMod val="20000"/>
                        <a:lumOff val="80000"/>
                      </a:schemeClr>
                    </a:solidFill>
                  </a:tcPr>
                </a:tc>
                <a:tc>
                  <a:txBody>
                    <a:bodyPr/>
                    <a:lstStyle/>
                    <a:p>
                      <a:pPr marL="228600" algn="l" fontAlgn="t">
                        <a:lnSpc>
                          <a:spcPct val="100000"/>
                        </a:lnSpc>
                        <a:buNone/>
                      </a:pPr>
                      <a:r>
                        <a:rPr lang="en-IN" sz="12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Null Hypothesis</a:t>
                      </a:r>
                      <a:endParaRPr lang="en-IN" sz="1200" b="1"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accent4">
                        <a:lumMod val="20000"/>
                        <a:lumOff val="80000"/>
                      </a:schemeClr>
                    </a:solidFill>
                  </a:tcPr>
                </a:tc>
                <a:tc>
                  <a:txBody>
                    <a:bodyPr/>
                    <a:lstStyle/>
                    <a:p>
                      <a:pPr marL="228600" algn="l" fontAlgn="t">
                        <a:lnSpc>
                          <a:spcPct val="100000"/>
                        </a:lnSpc>
                        <a:buNone/>
                      </a:pPr>
                      <a:r>
                        <a:rPr lang="en-IN" sz="12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Alternative Hypothesis</a:t>
                      </a:r>
                      <a:endParaRPr lang="en-IN" sz="1200" b="1"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accent4">
                        <a:lumMod val="20000"/>
                        <a:lumOff val="80000"/>
                      </a:schemeClr>
                    </a:solidFill>
                  </a:tcPr>
                </a:tc>
                <a:extLst>
                  <a:ext uri="{0D108BD9-81ED-4DB2-BD59-A6C34878D82A}">
                    <a16:rowId xmlns:a16="http://schemas.microsoft.com/office/drawing/2014/main" val="2430365068"/>
                  </a:ext>
                </a:extLst>
              </a:tr>
              <a:tr h="622742">
                <a:tc>
                  <a:txBody>
                    <a:bodyPr/>
                    <a:lstStyle/>
                    <a:p>
                      <a:pPr marL="0" algn="ctr" fontAlgn="t">
                        <a:lnSpc>
                          <a:spcPct val="100000"/>
                        </a:lnSpc>
                        <a:buNone/>
                      </a:pPr>
                      <a:r>
                        <a:rPr lang="en-IN" sz="11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RQ1</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bg1">
                        <a:lumMod val="95000"/>
                        <a:alpha val="20000"/>
                      </a:schemeClr>
                    </a:solidFill>
                  </a:tcPr>
                </a:tc>
                <a:tc>
                  <a:txBody>
                    <a:bodyPr/>
                    <a:lstStyle/>
                    <a:p>
                      <a:pPr marL="171450" marR="0" lvl="0" indent="-171450" algn="l" rtl="0" fontAlgn="t">
                        <a:lnSpc>
                          <a:spcPct val="100000"/>
                        </a:lnSpc>
                        <a:spcBef>
                          <a:spcPts val="0"/>
                        </a:spcBef>
                        <a:spcAft>
                          <a:spcPts val="0"/>
                        </a:spcAft>
                        <a:buClr>
                          <a:srgbClr val="000000"/>
                        </a:buClr>
                        <a:buFont typeface="Arial" panose="020B0604020202020204" pitchFamily="34" charset="0"/>
                        <a:buChar char="•"/>
                      </a:pPr>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Accuracy / Correctness</a:t>
                      </a:r>
                    </a:p>
                  </a:txBody>
                  <a:tcPr marL="36000" marR="36000" marT="36000" marB="36000" anchor="ctr">
                    <a:solidFill>
                      <a:schemeClr val="bg1">
                        <a:lumMod val="95000"/>
                        <a:alpha val="20000"/>
                      </a:schemeClr>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Chi-square test of independence </a:t>
                      </a:r>
                    </a:p>
                  </a:txBody>
                  <a:tcPr marL="36000" marR="36000" marT="36000" marB="36000" anchor="ctr">
                    <a:solidFill>
                      <a:schemeClr val="bg1">
                        <a:lumMod val="95000"/>
                        <a:alpha val="20000"/>
                      </a:schemeClr>
                    </a:solidFill>
                  </a:tcPr>
                </a:tc>
                <a:tc>
                  <a:txBody>
                    <a:bodyPr/>
                    <a:lstStyle/>
                    <a:p>
                      <a:pPr marL="0" algn="l" fontAlgn="t">
                        <a:lnSpc>
                          <a:spcPct val="100000"/>
                        </a:lnSpc>
                        <a:buNone/>
                      </a:pPr>
                      <a:r>
                        <a:rPr lang="en-IN" sz="1100" b="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No difference in classification correctness across groups</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solidFill>
                      <a:schemeClr val="bg1">
                        <a:lumMod val="95000"/>
                        <a:alpha val="20000"/>
                      </a:schemeClr>
                    </a:solidFill>
                  </a:tcPr>
                </a:tc>
                <a:tc>
                  <a:txBody>
                    <a:bodyPr/>
                    <a:lstStyle/>
                    <a:p>
                      <a:pPr marL="0" algn="l" fontAlgn="t">
                        <a:lnSpc>
                          <a:spcPct val="100000"/>
                        </a:lnSpc>
                        <a:buNone/>
                      </a:pPr>
                      <a:r>
                        <a:rPr lang="en-IN" sz="1100" b="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Significant difference exists</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solidFill>
                      <a:schemeClr val="bg1">
                        <a:lumMod val="95000"/>
                        <a:alpha val="20000"/>
                      </a:schemeClr>
                    </a:solidFill>
                  </a:tcPr>
                </a:tc>
                <a:extLst>
                  <a:ext uri="{0D108BD9-81ED-4DB2-BD59-A6C34878D82A}">
                    <a16:rowId xmlns:a16="http://schemas.microsoft.com/office/drawing/2014/main" val="593257773"/>
                  </a:ext>
                </a:extLst>
              </a:tr>
              <a:tr h="622742">
                <a:tc>
                  <a:txBody>
                    <a:bodyPr/>
                    <a:lstStyle/>
                    <a:p>
                      <a:pPr marL="0" algn="ctr" fontAlgn="t">
                        <a:lnSpc>
                          <a:spcPct val="100000"/>
                        </a:lnSpc>
                        <a:buNone/>
                      </a:pPr>
                      <a:r>
                        <a:rPr lang="en-IN" sz="11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RQ2</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pPr marL="171450" marR="0" lvl="0" indent="-171450" algn="l" rtl="0" fontAlgn="t">
                        <a:lnSpc>
                          <a:spcPct val="100000"/>
                        </a:lnSpc>
                        <a:spcBef>
                          <a:spcPts val="0"/>
                        </a:spcBef>
                        <a:spcAft>
                          <a:spcPts val="0"/>
                        </a:spcAft>
                        <a:buClr>
                          <a:srgbClr val="000000"/>
                        </a:buClr>
                        <a:buFont typeface="Arial" panose="020B0604020202020204" pitchFamily="34" charset="0"/>
                        <a:buChar char="•"/>
                      </a:pPr>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False Negative Rate</a:t>
                      </a:r>
                    </a:p>
                  </a:txBody>
                  <a:tcPr marL="36000" marR="36000" marT="36000" marB="36000" anchor="ct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Chi-square test or two-proportion z-test </a:t>
                      </a:r>
                    </a:p>
                  </a:txBody>
                  <a:tcPr marL="36000" marR="36000" marT="36000" marB="36000" anchor="ctr"/>
                </a:tc>
                <a:tc>
                  <a:txBody>
                    <a:bodyPr/>
                    <a:lstStyle/>
                    <a:p>
                      <a:pPr marL="0" algn="l" fontAlgn="t">
                        <a:lnSpc>
                          <a:spcPct val="100000"/>
                        </a:lnSpc>
                        <a:buNone/>
                      </a:pPr>
                      <a:r>
                        <a:rPr lang="en-IN" sz="1100" b="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No difference in false negative rates across groups</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tc>
                <a:tc>
                  <a:txBody>
                    <a:bodyPr/>
                    <a:lstStyle/>
                    <a:p>
                      <a:pPr marL="0" algn="l" fontAlgn="t">
                        <a:lnSpc>
                          <a:spcPct val="100000"/>
                        </a:lnSpc>
                        <a:buNone/>
                      </a:pPr>
                      <a:r>
                        <a:rPr lang="en-IN" sz="1100" b="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Significant difference exists</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tc>
                <a:extLst>
                  <a:ext uri="{0D108BD9-81ED-4DB2-BD59-A6C34878D82A}">
                    <a16:rowId xmlns:a16="http://schemas.microsoft.com/office/drawing/2014/main" val="1697979906"/>
                  </a:ext>
                </a:extLst>
              </a:tr>
              <a:tr h="329831">
                <a:tc>
                  <a:txBody>
                    <a:bodyPr/>
                    <a:lstStyle/>
                    <a:p>
                      <a:pPr marL="0" algn="ctr" fontAlgn="t">
                        <a:lnSpc>
                          <a:spcPct val="100000"/>
                        </a:lnSpc>
                        <a:buNone/>
                      </a:pPr>
                      <a:r>
                        <a:rPr lang="en-IN" sz="11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RQ3</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bg1">
                        <a:alpha val="20000"/>
                      </a:schemeClr>
                    </a:solidFill>
                  </a:tcPr>
                </a:tc>
                <a:tc>
                  <a:txBody>
                    <a:bodyPr/>
                    <a:lstStyle/>
                    <a:p>
                      <a:pPr marL="171450" lvl="0" indent="-171450">
                        <a:buFont typeface="Arial" panose="020B0604020202020204" pitchFamily="34" charset="0"/>
                        <a:buChar char="•"/>
                      </a:pPr>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Disparity measures (FNR gap) </a:t>
                      </a:r>
                    </a:p>
                  </a:txBody>
                  <a:tcPr marL="36000" marR="36000" marT="36000" marB="36000" anchor="ctr">
                    <a:solidFill>
                      <a:schemeClr val="bg1">
                        <a:alpha val="20000"/>
                      </a:schemeClr>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Paired t-test or Wilcoxon signed-rank test </a:t>
                      </a:r>
                    </a:p>
                  </a:txBody>
                  <a:tcPr marL="36000" marR="36000" marT="36000" marB="36000" anchor="ctr">
                    <a:solidFill>
                      <a:schemeClr val="bg1">
                        <a:alpha val="20000"/>
                      </a:schemeClr>
                    </a:solidFill>
                  </a:tcPr>
                </a:tc>
                <a:tc>
                  <a:txBody>
                    <a:bodyPr/>
                    <a:lstStyle/>
                    <a:p>
                      <a:pPr marL="0" algn="l" fontAlgn="t">
                        <a:lnSpc>
                          <a:spcPct val="100000"/>
                        </a:lnSpc>
                        <a:buNone/>
                      </a:pPr>
                      <a:r>
                        <a:rPr lang="en-IN" sz="1100" b="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Rebalancing does not change disparity</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solidFill>
                      <a:schemeClr val="bg1">
                        <a:alpha val="20000"/>
                      </a:schemeClr>
                    </a:solidFill>
                  </a:tcPr>
                </a:tc>
                <a:tc>
                  <a:txBody>
                    <a:bodyPr/>
                    <a:lstStyle/>
                    <a:p>
                      <a:pPr marL="0" algn="l" fontAlgn="t">
                        <a:lnSpc>
                          <a:spcPct val="100000"/>
                        </a:lnSpc>
                        <a:buNone/>
                      </a:pPr>
                      <a:r>
                        <a:rPr lang="en-IN" sz="1100" b="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Rebalancing changes disparity</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solidFill>
                      <a:schemeClr val="bg1">
                        <a:alpha val="20000"/>
                      </a:schemeClr>
                    </a:solidFill>
                  </a:tcPr>
                </a:tc>
                <a:extLst>
                  <a:ext uri="{0D108BD9-81ED-4DB2-BD59-A6C34878D82A}">
                    <a16:rowId xmlns:a16="http://schemas.microsoft.com/office/drawing/2014/main" val="3002408991"/>
                  </a:ext>
                </a:extLst>
              </a:tr>
              <a:tr h="622742">
                <a:tc>
                  <a:txBody>
                    <a:bodyPr/>
                    <a:lstStyle/>
                    <a:p>
                      <a:pPr marL="0" algn="ctr" fontAlgn="t">
                        <a:lnSpc>
                          <a:spcPct val="100000"/>
                        </a:lnSpc>
                        <a:buNone/>
                      </a:pPr>
                      <a:r>
                        <a:rPr lang="en-IN" sz="11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RQ4</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pPr marL="171450" lvl="0" indent="-171450">
                        <a:buFont typeface="Arial" panose="020B0604020202020204" pitchFamily="34" charset="0"/>
                        <a:buChar char="•"/>
                      </a:pPr>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Disparity measures (FNR gap) </a:t>
                      </a:r>
                    </a:p>
                    <a:p>
                      <a:pPr marL="171450" lvl="0" indent="-171450">
                        <a:buFont typeface="Arial" panose="020B0604020202020204" pitchFamily="34" charset="0"/>
                        <a:buChar char="•"/>
                      </a:pPr>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Overall model performance (AUC, F1-score) </a:t>
                      </a:r>
                    </a:p>
                  </a:txBody>
                  <a:tcPr marL="36000" marR="36000" marT="36000" marB="36000" anchor="ct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Paired t-test or Wilcoxon test </a:t>
                      </a:r>
                    </a:p>
                    <a:p>
                      <a:pPr marL="0" algn="l" fontAlgn="t">
                        <a:lnSpc>
                          <a:spcPct val="100000"/>
                        </a:lnSpc>
                        <a:buNone/>
                      </a:pP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pPr marL="0" algn="l" fontAlgn="t">
                        <a:lnSpc>
                          <a:spcPct val="100000"/>
                        </a:lnSpc>
                        <a:buNone/>
                      </a:pPr>
                      <a:r>
                        <a:rPr lang="en-IN" sz="1100" b="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Mitigation does not reduce disparity without performance loss</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tc>
                <a:tc>
                  <a:txBody>
                    <a:bodyPr/>
                    <a:lstStyle/>
                    <a:p>
                      <a:pPr marL="0" algn="l" fontAlgn="t">
                        <a:lnSpc>
                          <a:spcPct val="100000"/>
                        </a:lnSpc>
                        <a:buNone/>
                      </a:pPr>
                      <a:r>
                        <a:rPr lang="en-IN" sz="1100" b="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Mitigation reduces disparity without performance loss</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tc>
                <a:extLst>
                  <a:ext uri="{0D108BD9-81ED-4DB2-BD59-A6C34878D82A}">
                    <a16:rowId xmlns:a16="http://schemas.microsoft.com/office/drawing/2014/main" val="2705606246"/>
                  </a:ext>
                </a:extLst>
              </a:tr>
            </a:tbl>
          </a:graphicData>
        </a:graphic>
      </p:graphicFrame>
      <p:sp>
        <p:nvSpPr>
          <p:cNvPr id="3" name="TextBox 2">
            <a:extLst>
              <a:ext uri="{FF2B5EF4-FFF2-40B4-BE49-F238E27FC236}">
                <a16:creationId xmlns:a16="http://schemas.microsoft.com/office/drawing/2014/main" id="{65996BE4-273B-5E3A-8A62-F6CC0E8B34A2}"/>
              </a:ext>
            </a:extLst>
          </p:cNvPr>
          <p:cNvSpPr txBox="1"/>
          <p:nvPr/>
        </p:nvSpPr>
        <p:spPr>
          <a:xfrm>
            <a:off x="258678" y="861068"/>
            <a:ext cx="8360781" cy="488467"/>
          </a:xfrm>
          <a:prstGeom prst="rect">
            <a:avLst/>
          </a:prstGeom>
          <a:noFill/>
        </p:spPr>
        <p:txBody>
          <a:bodyPr wrap="square" rtlCol="0">
            <a:spAutoFit/>
          </a:bodyPr>
          <a:lstStyle/>
          <a:p>
            <a:pPr marL="171450" indent="-171450">
              <a:lnSpc>
                <a:spcPct val="110000"/>
              </a:lnSpc>
              <a:buFont typeface="Arial" panose="020B0604020202020204" pitchFamily="34" charset="0"/>
              <a:buChar char="•"/>
            </a:pPr>
            <a:endParaRPr lang="en-IN" sz="1200" dirty="0">
              <a:latin typeface="Calibri" panose="020F0502020204030204" pitchFamily="34" charset="0"/>
              <a:ea typeface="Calibri" panose="020F0502020204030204" pitchFamily="34" charset="0"/>
              <a:cs typeface="Calibri" panose="020F0502020204030204" pitchFamily="34" charset="0"/>
            </a:endParaRPr>
          </a:p>
          <a:p>
            <a:pPr>
              <a:lnSpc>
                <a:spcPct val="110000"/>
              </a:lnSpc>
            </a:pPr>
            <a:r>
              <a:rPr lang="en-IN" sz="1200" b="1" dirty="0">
                <a:latin typeface="Calibri" panose="020F0502020204030204" pitchFamily="34" charset="0"/>
                <a:ea typeface="Calibri" panose="020F0502020204030204" pitchFamily="34" charset="0"/>
                <a:cs typeface="Calibri" panose="020F0502020204030204" pitchFamily="34" charset="0"/>
              </a:rPr>
              <a:t>Hypothesis</a:t>
            </a:r>
            <a:r>
              <a:rPr lang="en-IN" sz="1200" dirty="0">
                <a:latin typeface="Calibri" panose="020F0502020204030204" pitchFamily="34" charset="0"/>
                <a:ea typeface="Calibri" panose="020F0502020204030204" pitchFamily="34" charset="0"/>
                <a:cs typeface="Calibri" panose="020F0502020204030204" pitchFamily="34" charset="0"/>
              </a:rPr>
              <a:t> formulation and Statistical testing </a:t>
            </a:r>
          </a:p>
        </p:txBody>
      </p:sp>
    </p:spTree>
    <p:extLst>
      <p:ext uri="{BB962C8B-B14F-4D97-AF65-F5344CB8AC3E}">
        <p14:creationId xmlns:p14="http://schemas.microsoft.com/office/powerpoint/2010/main" val="231832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EF44B40-15E5-F534-AA94-D81C8DC42A5F}"/>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CD17FCC2-C595-F800-89A9-9876F24B45D1}"/>
              </a:ext>
            </a:extLst>
          </p:cNvPr>
          <p:cNvSpPr>
            <a:spLocks noGrp="1"/>
          </p:cNvSpPr>
          <p:nvPr>
            <p:ph type="title"/>
          </p:nvPr>
        </p:nvSpPr>
        <p:spPr>
          <a:xfrm>
            <a:off x="201972" y="288368"/>
            <a:ext cx="8520600" cy="572700"/>
          </a:xfrm>
        </p:spPr>
        <p:txBody>
          <a:bodyPr wrap="square" anchor="ctr">
            <a:noAutofit/>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Sample size calculations</a:t>
            </a:r>
          </a:p>
        </p:txBody>
      </p:sp>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id="{C13F6584-F919-847B-699D-85616404DD2B}"/>
                  </a:ext>
                </a:extLst>
              </p:cNvPr>
              <p:cNvGraphicFramePr>
                <a:graphicFrameLocks noGrp="1"/>
              </p:cNvGraphicFramePr>
              <p:nvPr>
                <p:extLst>
                  <p:ext uri="{D42A27DB-BD31-4B8C-83A1-F6EECF244321}">
                    <p14:modId xmlns:p14="http://schemas.microsoft.com/office/powerpoint/2010/main" val="4041410512"/>
                  </p:ext>
                </p:extLst>
              </p:nvPr>
            </p:nvGraphicFramePr>
            <p:xfrm>
              <a:off x="451326" y="1089037"/>
              <a:ext cx="8444701" cy="3684055"/>
            </p:xfrm>
            <a:graphic>
              <a:graphicData uri="http://schemas.openxmlformats.org/drawingml/2006/table">
                <a:tbl>
                  <a:tblPr>
                    <a:tableStyleId>{2D5ABB26-0587-4C30-8999-92F81FD0307C}</a:tableStyleId>
                  </a:tblPr>
                  <a:tblGrid>
                    <a:gridCol w="579311">
                      <a:extLst>
                        <a:ext uri="{9D8B030D-6E8A-4147-A177-3AD203B41FA5}">
                          <a16:colId xmlns:a16="http://schemas.microsoft.com/office/drawing/2014/main" val="1964641796"/>
                        </a:ext>
                      </a:extLst>
                    </a:gridCol>
                    <a:gridCol w="1162373">
                      <a:extLst>
                        <a:ext uri="{9D8B030D-6E8A-4147-A177-3AD203B41FA5}">
                          <a16:colId xmlns:a16="http://schemas.microsoft.com/office/drawing/2014/main" val="770871216"/>
                        </a:ext>
                      </a:extLst>
                    </a:gridCol>
                    <a:gridCol w="1263112">
                      <a:extLst>
                        <a:ext uri="{9D8B030D-6E8A-4147-A177-3AD203B41FA5}">
                          <a16:colId xmlns:a16="http://schemas.microsoft.com/office/drawing/2014/main" val="4161145162"/>
                        </a:ext>
                      </a:extLst>
                    </a:gridCol>
                    <a:gridCol w="1433593">
                      <a:extLst>
                        <a:ext uri="{9D8B030D-6E8A-4147-A177-3AD203B41FA5}">
                          <a16:colId xmlns:a16="http://schemas.microsoft.com/office/drawing/2014/main" val="335348410"/>
                        </a:ext>
                      </a:extLst>
                    </a:gridCol>
                    <a:gridCol w="2882685">
                      <a:extLst>
                        <a:ext uri="{9D8B030D-6E8A-4147-A177-3AD203B41FA5}">
                          <a16:colId xmlns:a16="http://schemas.microsoft.com/office/drawing/2014/main" val="588442442"/>
                        </a:ext>
                      </a:extLst>
                    </a:gridCol>
                    <a:gridCol w="1123627">
                      <a:extLst>
                        <a:ext uri="{9D8B030D-6E8A-4147-A177-3AD203B41FA5}">
                          <a16:colId xmlns:a16="http://schemas.microsoft.com/office/drawing/2014/main" val="220065736"/>
                        </a:ext>
                      </a:extLst>
                    </a:gridCol>
                  </a:tblGrid>
                  <a:tr h="332404">
                    <a:tc>
                      <a:txBody>
                        <a:bodyPr/>
                        <a:lstStyle/>
                        <a:p>
                          <a:pPr algn="ctr">
                            <a:buNone/>
                          </a:pPr>
                          <a:r>
                            <a:rPr lang="en-IN" sz="1000" dirty="0">
                              <a:solidFill>
                                <a:schemeClr val="bg1"/>
                              </a:solidFill>
                            </a:rPr>
                            <a:t>RQ</a:t>
                          </a:r>
                        </a:p>
                      </a:txBody>
                      <a:tcPr marL="53942" marR="53942" marT="26971" marB="26971"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2"/>
                        </a:solidFill>
                      </a:tcPr>
                    </a:tc>
                    <a:tc>
                      <a:txBody>
                        <a:bodyPr/>
                        <a:lstStyle/>
                        <a:p>
                          <a:pPr algn="ctr">
                            <a:buNone/>
                          </a:pPr>
                          <a:r>
                            <a:rPr lang="en-IN" sz="1000" dirty="0">
                              <a:solidFill>
                                <a:schemeClr val="bg1"/>
                              </a:solidFill>
                            </a:rPr>
                            <a:t>Method used</a:t>
                          </a:r>
                        </a:p>
                      </a:txBody>
                      <a:tcPr marL="53942" marR="53942" marT="26971" marB="26971" anchor="ct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2"/>
                        </a:solidFill>
                      </a:tcPr>
                    </a:tc>
                    <a:tc>
                      <a:txBody>
                        <a:bodyPr/>
                        <a:lstStyle/>
                        <a:p>
                          <a:pPr algn="ctr">
                            <a:buNone/>
                          </a:pPr>
                          <a:r>
                            <a:rPr lang="en-IN" sz="1000" dirty="0">
                              <a:solidFill>
                                <a:schemeClr val="bg1"/>
                              </a:solidFill>
                            </a:rPr>
                            <a:t>Key outcome compared</a:t>
                          </a:r>
                        </a:p>
                      </a:txBody>
                      <a:tcPr marL="53942" marR="53942" marT="26971" marB="26971" anchor="ct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2"/>
                        </a:solidFill>
                      </a:tcPr>
                    </a:tc>
                    <a:tc>
                      <a:txBody>
                        <a:bodyPr/>
                        <a:lstStyle/>
                        <a:p>
                          <a:pPr algn="ctr">
                            <a:buNone/>
                          </a:pPr>
                          <a:r>
                            <a:rPr lang="en-IN" sz="1000" dirty="0">
                              <a:solidFill>
                                <a:schemeClr val="bg1"/>
                              </a:solidFill>
                            </a:rPr>
                            <a:t>Key parameters</a:t>
                          </a:r>
                        </a:p>
                      </a:txBody>
                      <a:tcPr marL="53942" marR="53942" marT="26971" marB="26971" anchor="ct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2"/>
                        </a:solidFill>
                      </a:tcPr>
                    </a:tc>
                    <a:tc>
                      <a:txBody>
                        <a:bodyPr/>
                        <a:lstStyle/>
                        <a:p>
                          <a:pPr algn="ctr">
                            <a:buNone/>
                          </a:pPr>
                          <a:r>
                            <a:rPr lang="en-IN" sz="1000" dirty="0">
                              <a:solidFill>
                                <a:schemeClr val="bg1"/>
                              </a:solidFill>
                            </a:rPr>
                            <a:t>Formula used</a:t>
                          </a:r>
                        </a:p>
                      </a:txBody>
                      <a:tcPr marL="53942" marR="53942" marT="26971" marB="26971" anchor="ct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2"/>
                        </a:solidFill>
                      </a:tcPr>
                    </a:tc>
                    <a:tc>
                      <a:txBody>
                        <a:bodyPr/>
                        <a:lstStyle/>
                        <a:p>
                          <a:pPr algn="ctr">
                            <a:buNone/>
                          </a:pPr>
                          <a:r>
                            <a:rPr lang="en-IN" sz="1000" dirty="0">
                              <a:solidFill>
                                <a:schemeClr val="bg1"/>
                              </a:solidFill>
                            </a:rPr>
                            <a:t>Minimum sample size</a:t>
                          </a:r>
                        </a:p>
                      </a:txBody>
                      <a:tcPr marL="53942" marR="53942" marT="26971" marB="26971"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203426902"/>
                      </a:ext>
                    </a:extLst>
                  </a:tr>
                  <a:tr h="1174188">
                    <a:tc>
                      <a:txBody>
                        <a:bodyPr/>
                        <a:lstStyle/>
                        <a:p>
                          <a:pPr>
                            <a:buNone/>
                          </a:pPr>
                          <a:r>
                            <a:rPr lang="en-IN" sz="800" dirty="0"/>
                            <a:t>RQ1</a:t>
                          </a:r>
                        </a:p>
                      </a:txBody>
                      <a:tcPr marL="53942" marR="53942" marT="26971" marB="26971" anchor="ctr">
                        <a:lnL w="6350"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en-US" sz="900" dirty="0"/>
                            <a:t>Power analysis for two-proportion test</a:t>
                          </a:r>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en-IN" sz="900" dirty="0"/>
                            <a:t>Correct classification proportion across groups</a:t>
                          </a:r>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171450" lvl="0" indent="-171450">
                            <a:buFont typeface="Arial" panose="020B0604020202020204" pitchFamily="34" charset="0"/>
                            <a:buChar char="•"/>
                          </a:pPr>
                          <a14:m>
                            <m:oMath xmlns:m="http://schemas.openxmlformats.org/officeDocument/2006/math">
                              <m:sSub>
                                <m:sSubPr>
                                  <m:ctrlPr>
                                    <a:rPr lang="en-IN" sz="1000" b="0" i="1" u="none" strike="noStrike" cap="none">
                                      <a:solidFill>
                                        <a:schemeClr val="tx1"/>
                                      </a:solidFill>
                                      <a:effectLst/>
                                      <a:latin typeface="+mn-lt"/>
                                      <a:ea typeface="+mn-ea"/>
                                      <a:cs typeface="+mn-cs"/>
                                      <a:sym typeface="Arial"/>
                                    </a:rPr>
                                  </m:ctrlPr>
                                </m:sSubPr>
                                <m:e>
                                  <m:r>
                                    <a:rPr lang="en-IN" sz="1000" b="0" i="1" u="none" strike="noStrike" cap="none">
                                      <a:solidFill>
                                        <a:schemeClr val="tx1"/>
                                      </a:solidFill>
                                      <a:effectLst/>
                                      <a:latin typeface="+mn-lt"/>
                                      <a:ea typeface="+mn-ea"/>
                                      <a:cs typeface="+mn-cs"/>
                                      <a:sym typeface="Arial"/>
                                    </a:rPr>
                                    <m:t>𝑝</m:t>
                                  </m:r>
                                </m:e>
                                <m:sub>
                                  <m:r>
                                    <a:rPr lang="en-IN" sz="1000" b="0" i="1" u="none" strike="noStrike" cap="none">
                                      <a:solidFill>
                                        <a:schemeClr val="tx1"/>
                                      </a:solidFill>
                                      <a:effectLst/>
                                      <a:latin typeface="+mn-lt"/>
                                      <a:ea typeface="+mn-ea"/>
                                      <a:cs typeface="+mn-cs"/>
                                      <a:sym typeface="Arial"/>
                                    </a:rPr>
                                    <m:t>1</m:t>
                                  </m:r>
                                </m:sub>
                              </m:sSub>
                              <m:r>
                                <a:rPr lang="en-IN" sz="1000" b="0" i="1" u="none" strike="noStrike" cap="none">
                                  <a:solidFill>
                                    <a:schemeClr val="tx1"/>
                                  </a:solidFill>
                                  <a:effectLst/>
                                  <a:latin typeface="+mn-lt"/>
                                  <a:ea typeface="+mn-ea"/>
                                  <a:cs typeface="+mn-cs"/>
                                  <a:sym typeface="Arial"/>
                                </a:rPr>
                                <m:t>=0.80</m:t>
                              </m:r>
                            </m:oMath>
                          </a14:m>
                          <a:r>
                            <a:rPr lang="en-IN" sz="1000" b="0" i="0" u="none" strike="noStrike" cap="none" dirty="0">
                              <a:solidFill>
                                <a:schemeClr val="tx1"/>
                              </a:solidFill>
                              <a:effectLst/>
                              <a:latin typeface="+mn-lt"/>
                              <a:ea typeface="+mn-ea"/>
                              <a:cs typeface="+mn-cs"/>
                              <a:sym typeface="Arial"/>
                            </a:rPr>
                            <a:t>                </a:t>
                          </a:r>
                          <a:r>
                            <a:rPr lang="en-IN" sz="900" b="0" i="1" u="none" strike="noStrike" cap="none" dirty="0">
                              <a:solidFill>
                                <a:srgbClr val="0000FF"/>
                              </a:solidFill>
                              <a:effectLst/>
                              <a:latin typeface="+mn-lt"/>
                              <a:ea typeface="+mn-ea"/>
                              <a:cs typeface="+mn-cs"/>
                              <a:sym typeface="Arial"/>
                            </a:rPr>
                            <a:t>(Group 1 correctness)</a:t>
                          </a:r>
                        </a:p>
                        <a:p>
                          <a:pPr marL="171450" lvl="0" indent="-171450">
                            <a:buFont typeface="Arial" panose="020B0604020202020204" pitchFamily="34" charset="0"/>
                            <a:buChar char="•"/>
                          </a:pPr>
                          <a14:m>
                            <m:oMath xmlns:m="http://schemas.openxmlformats.org/officeDocument/2006/math">
                              <m:sSub>
                                <m:sSubPr>
                                  <m:ctrlPr>
                                    <a:rPr lang="en-IN" sz="1000" b="0" i="1" u="none" strike="noStrike" cap="none">
                                      <a:solidFill>
                                        <a:schemeClr val="tx1"/>
                                      </a:solidFill>
                                      <a:effectLst/>
                                      <a:latin typeface="+mn-lt"/>
                                      <a:ea typeface="+mn-ea"/>
                                      <a:cs typeface="+mn-cs"/>
                                      <a:sym typeface="Arial"/>
                                    </a:rPr>
                                  </m:ctrlPr>
                                </m:sSubPr>
                                <m:e>
                                  <m:r>
                                    <a:rPr lang="en-IN" sz="1000" b="0" i="1" u="none" strike="noStrike" cap="none">
                                      <a:solidFill>
                                        <a:schemeClr val="tx1"/>
                                      </a:solidFill>
                                      <a:effectLst/>
                                      <a:latin typeface="+mn-lt"/>
                                      <a:ea typeface="+mn-ea"/>
                                      <a:cs typeface="+mn-cs"/>
                                      <a:sym typeface="Arial"/>
                                    </a:rPr>
                                    <m:t>𝑝</m:t>
                                  </m:r>
                                </m:e>
                                <m:sub>
                                  <m:r>
                                    <a:rPr lang="en-IN" sz="1000" b="0" i="1" u="none" strike="noStrike" cap="none">
                                      <a:solidFill>
                                        <a:schemeClr val="tx1"/>
                                      </a:solidFill>
                                      <a:effectLst/>
                                      <a:latin typeface="+mn-lt"/>
                                      <a:ea typeface="+mn-ea"/>
                                      <a:cs typeface="+mn-cs"/>
                                      <a:sym typeface="Arial"/>
                                    </a:rPr>
                                    <m:t>2</m:t>
                                  </m:r>
                                </m:sub>
                              </m:sSub>
                              <m:r>
                                <a:rPr lang="en-IN" sz="1000" b="0" i="1" u="none" strike="noStrike" cap="none">
                                  <a:solidFill>
                                    <a:schemeClr val="tx1"/>
                                  </a:solidFill>
                                  <a:effectLst/>
                                  <a:latin typeface="+mn-lt"/>
                                  <a:ea typeface="+mn-ea"/>
                                  <a:cs typeface="+mn-cs"/>
                                  <a:sym typeface="Arial"/>
                                </a:rPr>
                                <m:t>=0.75</m:t>
                              </m:r>
                            </m:oMath>
                          </a14:m>
                          <a:r>
                            <a:rPr lang="en-IN" sz="1000" b="0" i="0" u="none" strike="noStrike" cap="none" dirty="0">
                              <a:solidFill>
                                <a:schemeClr val="tx1"/>
                              </a:solidFill>
                              <a:effectLst/>
                              <a:latin typeface="+mn-lt"/>
                              <a:ea typeface="+mn-ea"/>
                              <a:cs typeface="+mn-cs"/>
                              <a:sym typeface="Arial"/>
                            </a:rPr>
                            <a:t>             </a:t>
                          </a:r>
                          <a:r>
                            <a:rPr lang="en-IN" sz="900" b="0" i="1" u="none" strike="noStrike" cap="none" dirty="0">
                              <a:solidFill>
                                <a:srgbClr val="0000FF"/>
                              </a:solidFill>
                              <a:effectLst/>
                              <a:latin typeface="+mn-lt"/>
                              <a:ea typeface="+mn-ea"/>
                              <a:cs typeface="+mn-cs"/>
                              <a:sym typeface="Arial"/>
                            </a:rPr>
                            <a:t>(Group 2 correctness)</a:t>
                          </a:r>
                        </a:p>
                        <a:p>
                          <a:pPr marL="171450" indent="-171450">
                            <a:buFont typeface="Arial" panose="020B0604020202020204" pitchFamily="34" charset="0"/>
                            <a:buChar char="•"/>
                          </a:pPr>
                          <a14:m>
                            <m:oMath xmlns:m="http://schemas.openxmlformats.org/officeDocument/2006/math">
                              <m:sSub>
                                <m:sSubPr>
                                  <m:ctrlPr>
                                    <a:rPr lang="en-IN" sz="1000" b="0" i="1" u="none" strike="noStrike" cap="none">
                                      <a:solidFill>
                                        <a:schemeClr val="tx1"/>
                                      </a:solidFill>
                                      <a:effectLst/>
                                      <a:latin typeface="+mn-lt"/>
                                      <a:ea typeface="+mn-ea"/>
                                      <a:cs typeface="+mn-cs"/>
                                      <a:sym typeface="Arial"/>
                                    </a:rPr>
                                  </m:ctrlPr>
                                </m:sSubPr>
                                <m:e>
                                  <m:r>
                                    <a:rPr lang="en-IN" sz="1000" b="0" i="1" u="none" strike="noStrike" cap="none">
                                      <a:solidFill>
                                        <a:schemeClr val="tx1"/>
                                      </a:solidFill>
                                      <a:effectLst/>
                                      <a:latin typeface="+mn-lt"/>
                                      <a:ea typeface="+mn-ea"/>
                                      <a:cs typeface="+mn-cs"/>
                                      <a:sym typeface="Arial"/>
                                    </a:rPr>
                                    <m:t>𝑝</m:t>
                                  </m:r>
                                </m:e>
                                <m:sub>
                                  <m:r>
                                    <a:rPr lang="en-IN" sz="1000" b="0" i="1" u="none" strike="noStrike" cap="none">
                                      <a:solidFill>
                                        <a:schemeClr val="tx1"/>
                                      </a:solidFill>
                                      <a:effectLst/>
                                      <a:latin typeface="+mn-lt"/>
                                      <a:ea typeface="+mn-ea"/>
                                      <a:cs typeface="+mn-cs"/>
                                      <a:sym typeface="Arial"/>
                                    </a:rPr>
                                    <m:t>1</m:t>
                                  </m:r>
                                </m:sub>
                              </m:sSub>
                              <m:r>
                                <a:rPr lang="en-IN" sz="1000" b="0" i="1" u="none" strike="noStrike" cap="none">
                                  <a:solidFill>
                                    <a:schemeClr val="tx1"/>
                                  </a:solidFill>
                                  <a:effectLst/>
                                  <a:latin typeface="+mn-lt"/>
                                  <a:ea typeface="+mn-ea"/>
                                  <a:cs typeface="+mn-cs"/>
                                  <a:sym typeface="Arial"/>
                                </a:rPr>
                                <m:t>−</m:t>
                              </m:r>
                              <m:sSub>
                                <m:sSubPr>
                                  <m:ctrlPr>
                                    <a:rPr lang="en-IN" sz="1000" b="0" i="1" u="none" strike="noStrike" cap="none">
                                      <a:solidFill>
                                        <a:schemeClr val="tx1"/>
                                      </a:solidFill>
                                      <a:effectLst/>
                                      <a:latin typeface="+mn-lt"/>
                                      <a:ea typeface="+mn-ea"/>
                                      <a:cs typeface="+mn-cs"/>
                                      <a:sym typeface="Arial"/>
                                    </a:rPr>
                                  </m:ctrlPr>
                                </m:sSubPr>
                                <m:e>
                                  <m:r>
                                    <a:rPr lang="en-IN" sz="1000" b="0" i="1" u="none" strike="noStrike" cap="none">
                                      <a:solidFill>
                                        <a:schemeClr val="tx1"/>
                                      </a:solidFill>
                                      <a:effectLst/>
                                      <a:latin typeface="+mn-lt"/>
                                      <a:ea typeface="+mn-ea"/>
                                      <a:cs typeface="+mn-cs"/>
                                      <a:sym typeface="Arial"/>
                                    </a:rPr>
                                    <m:t>𝑝</m:t>
                                  </m:r>
                                </m:e>
                                <m:sub>
                                  <m:r>
                                    <a:rPr lang="en-IN" sz="1000" b="0" i="1" u="none" strike="noStrike" cap="none">
                                      <a:solidFill>
                                        <a:schemeClr val="tx1"/>
                                      </a:solidFill>
                                      <a:effectLst/>
                                      <a:latin typeface="+mn-lt"/>
                                      <a:ea typeface="+mn-ea"/>
                                      <a:cs typeface="+mn-cs"/>
                                      <a:sym typeface="Arial"/>
                                    </a:rPr>
                                    <m:t>2</m:t>
                                  </m:r>
                                </m:sub>
                              </m:sSub>
                              <m:r>
                                <a:rPr lang="en-IN" sz="1000" b="0" i="1" u="none" strike="noStrike" cap="none">
                                  <a:solidFill>
                                    <a:schemeClr val="tx1"/>
                                  </a:solidFill>
                                  <a:effectLst/>
                                  <a:latin typeface="+mn-lt"/>
                                  <a:ea typeface="+mn-ea"/>
                                  <a:cs typeface="+mn-cs"/>
                                  <a:sym typeface="Arial"/>
                                </a:rPr>
                                <m:t>=0.05</m:t>
                              </m:r>
                            </m:oMath>
                          </a14:m>
                          <a:r>
                            <a:rPr lang="en-IN" sz="1000" b="0" i="0" u="none" strike="noStrike" cap="none" dirty="0">
                              <a:solidFill>
                                <a:schemeClr val="tx1"/>
                              </a:solidFill>
                              <a:effectLst/>
                              <a:latin typeface="+mn-lt"/>
                              <a:ea typeface="+mn-ea"/>
                              <a:cs typeface="+mn-cs"/>
                              <a:sym typeface="Arial"/>
                            </a:rPr>
                            <a:t> </a:t>
                          </a:r>
                          <a:r>
                            <a:rPr lang="en-IN" sz="900" b="0" i="1" u="none" strike="noStrike" cap="none" dirty="0">
                              <a:solidFill>
                                <a:srgbClr val="0000FF"/>
                              </a:solidFill>
                              <a:effectLst/>
                              <a:latin typeface="+mn-lt"/>
                              <a:ea typeface="+mn-ea"/>
                              <a:cs typeface="+mn-cs"/>
                              <a:sym typeface="Arial"/>
                            </a:rPr>
                            <a:t>(difference to detect)</a:t>
                          </a:r>
                          <a:endParaRPr lang="en-US" sz="900" i="1" dirty="0">
                            <a:solidFill>
                              <a:srgbClr val="0000FF"/>
                            </a:solidFill>
                          </a:endParaRPr>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rowSpan="2">
                      <a:txBody>
                        <a:bodyPr/>
                        <a:lstStyle/>
                        <a:p>
                          <a:pPr>
                            <a:buNone/>
                          </a:pPr>
                          <a:endParaRPr lang="en-IN" sz="800" dirty="0"/>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buNone/>
                          </a:pPr>
                          <a:r>
                            <a:rPr lang="en-IN" sz="800" b="1"/>
                            <a:t>1,093 per group</a:t>
                          </a:r>
                          <a:endParaRPr lang="en-IN" sz="800"/>
                        </a:p>
                      </a:txBody>
                      <a:tcPr marL="53942" marR="53942" marT="26971" marB="26971" anchor="ctr">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3014195"/>
                      </a:ext>
                    </a:extLst>
                  </a:tr>
                  <a:tr h="1022115">
                    <a:tc>
                      <a:txBody>
                        <a:bodyPr/>
                        <a:lstStyle/>
                        <a:p>
                          <a:pPr>
                            <a:buNone/>
                          </a:pPr>
                          <a:r>
                            <a:rPr lang="en-IN" sz="800"/>
                            <a:t>RQ2</a:t>
                          </a:r>
                        </a:p>
                      </a:txBody>
                      <a:tcPr marL="53942" marR="53942" marT="26971" marB="26971" anchor="ctr">
                        <a:lnL w="6350"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en-US" sz="900" dirty="0"/>
                            <a:t>Power analysis for two-proportion test</a:t>
                          </a:r>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en-US" sz="900" dirty="0"/>
                            <a:t>False negative rate across groups</a:t>
                          </a:r>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171450" marR="0" lvl="0" indent="-171450" algn="l" rtl="0">
                            <a:lnSpc>
                              <a:spcPct val="100000"/>
                            </a:lnSpc>
                            <a:spcBef>
                              <a:spcPts val="0"/>
                            </a:spcBef>
                            <a:spcAft>
                              <a:spcPts val="0"/>
                            </a:spcAft>
                            <a:buClr>
                              <a:srgbClr val="000000"/>
                            </a:buClr>
                            <a:buFont typeface="Arial" panose="020B0604020202020204" pitchFamily="34" charset="0"/>
                            <a:buChar char="•"/>
                          </a:pPr>
                          <a14:m>
                            <m:oMath xmlns:m="http://schemas.openxmlformats.org/officeDocument/2006/math">
                              <m:sSub>
                                <m:sSubPr>
                                  <m:ctrlPr>
                                    <a:rPr lang="en-IN" sz="1000" b="0" i="1" u="none" strike="noStrike" cap="none" smtClean="0">
                                      <a:solidFill>
                                        <a:schemeClr val="tx1"/>
                                      </a:solidFill>
                                      <a:effectLst/>
                                      <a:latin typeface="+mn-lt"/>
                                      <a:ea typeface="+mn-ea"/>
                                      <a:cs typeface="+mn-cs"/>
                                      <a:sym typeface="Arial"/>
                                    </a:rPr>
                                  </m:ctrlPr>
                                </m:sSubPr>
                                <m:e>
                                  <m:r>
                                    <a:rPr lang="en-IN" sz="1000" b="0" i="1" u="none" strike="noStrike" cap="none">
                                      <a:solidFill>
                                        <a:schemeClr val="tx1"/>
                                      </a:solidFill>
                                      <a:effectLst/>
                                      <a:latin typeface="+mn-lt"/>
                                      <a:ea typeface="+mn-ea"/>
                                      <a:cs typeface="+mn-cs"/>
                                      <a:sym typeface="Arial"/>
                                    </a:rPr>
                                    <m:t>𝑝</m:t>
                                  </m:r>
                                </m:e>
                                <m:sub>
                                  <m:r>
                                    <a:rPr lang="en-IN" sz="1000" b="0" i="1" u="none" strike="noStrike" cap="none">
                                      <a:solidFill>
                                        <a:schemeClr val="tx1"/>
                                      </a:solidFill>
                                      <a:effectLst/>
                                      <a:latin typeface="+mn-lt"/>
                                      <a:ea typeface="+mn-ea"/>
                                      <a:cs typeface="+mn-cs"/>
                                      <a:sym typeface="Arial"/>
                                    </a:rPr>
                                    <m:t>1</m:t>
                                  </m:r>
                                </m:sub>
                              </m:sSub>
                              <m:r>
                                <a:rPr lang="en-IN" sz="1000" b="0" i="1" u="none" strike="noStrike" cap="none">
                                  <a:solidFill>
                                    <a:schemeClr val="tx1"/>
                                  </a:solidFill>
                                  <a:effectLst/>
                                  <a:latin typeface="+mn-lt"/>
                                  <a:ea typeface="+mn-ea"/>
                                  <a:cs typeface="+mn-cs"/>
                                  <a:sym typeface="Arial"/>
                                </a:rPr>
                                <m:t>=0.</m:t>
                              </m:r>
                              <m:r>
                                <a:rPr lang="en-IN" sz="1000" b="0" i="1" u="none" strike="noStrike" cap="none" smtClean="0">
                                  <a:solidFill>
                                    <a:schemeClr val="tx1"/>
                                  </a:solidFill>
                                  <a:effectLst/>
                                  <a:latin typeface="+mn-lt"/>
                                  <a:ea typeface="+mn-ea"/>
                                  <a:cs typeface="+mn-cs"/>
                                  <a:sym typeface="Arial"/>
                                </a:rPr>
                                <m:t>2</m:t>
                              </m:r>
                            </m:oMath>
                          </a14:m>
                          <a:r>
                            <a:rPr lang="en-IN" sz="1000" b="0" i="1" u="none" strike="noStrike" cap="none" dirty="0">
                              <a:solidFill>
                                <a:schemeClr val="tx1"/>
                              </a:solidFill>
                              <a:effectLst/>
                              <a:latin typeface="+mn-lt"/>
                              <a:ea typeface="+mn-ea"/>
                              <a:cs typeface="+mn-cs"/>
                              <a:sym typeface="Arial"/>
                            </a:rPr>
                            <a:t>                      </a:t>
                          </a:r>
                          <a:r>
                            <a:rPr lang="en-IN" sz="900" b="0" i="1" u="none" strike="noStrike" cap="none" dirty="0">
                              <a:solidFill>
                                <a:srgbClr val="0000FF"/>
                              </a:solidFill>
                              <a:effectLst/>
                              <a:latin typeface="+mn-lt"/>
                              <a:ea typeface="+mn-ea"/>
                              <a:cs typeface="+mn-cs"/>
                              <a:sym typeface="Arial"/>
                            </a:rPr>
                            <a:t>(Group 1 FNR) </a:t>
                          </a:r>
                        </a:p>
                        <a:p>
                          <a:pPr marL="171450" marR="0" lvl="0" indent="-171450" algn="l" rtl="0">
                            <a:lnSpc>
                              <a:spcPct val="100000"/>
                            </a:lnSpc>
                            <a:spcBef>
                              <a:spcPts val="0"/>
                            </a:spcBef>
                            <a:spcAft>
                              <a:spcPts val="0"/>
                            </a:spcAft>
                            <a:buClr>
                              <a:srgbClr val="000000"/>
                            </a:buClr>
                            <a:buFont typeface="Arial" panose="020B0604020202020204" pitchFamily="34" charset="0"/>
                            <a:buChar char="•"/>
                          </a:pPr>
                          <a14:m>
                            <m:oMath xmlns:m="http://schemas.openxmlformats.org/officeDocument/2006/math">
                              <m:sSub>
                                <m:sSubPr>
                                  <m:ctrlPr>
                                    <a:rPr lang="en-IN" sz="1000" b="0" i="1" u="none" strike="noStrike" cap="none">
                                      <a:solidFill>
                                        <a:schemeClr val="tx1"/>
                                      </a:solidFill>
                                      <a:effectLst/>
                                      <a:latin typeface="+mn-lt"/>
                                      <a:ea typeface="+mn-ea"/>
                                      <a:cs typeface="+mn-cs"/>
                                      <a:sym typeface="Arial"/>
                                    </a:rPr>
                                  </m:ctrlPr>
                                </m:sSubPr>
                                <m:e>
                                  <m:r>
                                    <a:rPr lang="en-IN" sz="1000" b="0" i="1" u="none" strike="noStrike" cap="none">
                                      <a:solidFill>
                                        <a:schemeClr val="tx1"/>
                                      </a:solidFill>
                                      <a:effectLst/>
                                      <a:latin typeface="+mn-lt"/>
                                      <a:ea typeface="+mn-ea"/>
                                      <a:cs typeface="+mn-cs"/>
                                      <a:sym typeface="Arial"/>
                                    </a:rPr>
                                    <m:t>𝑝</m:t>
                                  </m:r>
                                </m:e>
                                <m:sub>
                                  <m:r>
                                    <a:rPr lang="en-IN" sz="1000" b="0" i="1" u="none" strike="noStrike" cap="none">
                                      <a:solidFill>
                                        <a:schemeClr val="tx1"/>
                                      </a:solidFill>
                                      <a:effectLst/>
                                      <a:latin typeface="+mn-lt"/>
                                      <a:ea typeface="+mn-ea"/>
                                      <a:cs typeface="+mn-cs"/>
                                      <a:sym typeface="Arial"/>
                                    </a:rPr>
                                    <m:t>2</m:t>
                                  </m:r>
                                </m:sub>
                              </m:sSub>
                              <m:r>
                                <a:rPr lang="en-IN" sz="1000" b="0" i="1" u="none" strike="noStrike" cap="none">
                                  <a:solidFill>
                                    <a:schemeClr val="tx1"/>
                                  </a:solidFill>
                                  <a:effectLst/>
                                  <a:latin typeface="+mn-lt"/>
                                  <a:ea typeface="+mn-ea"/>
                                  <a:cs typeface="+mn-cs"/>
                                  <a:sym typeface="Arial"/>
                                </a:rPr>
                                <m:t>=0.</m:t>
                              </m:r>
                              <m:r>
                                <a:rPr lang="en-IN" sz="1000" b="0" i="1" u="none" strike="noStrike" cap="none" smtClean="0">
                                  <a:solidFill>
                                    <a:schemeClr val="tx1"/>
                                  </a:solidFill>
                                  <a:effectLst/>
                                  <a:latin typeface="+mn-lt"/>
                                  <a:ea typeface="+mn-ea"/>
                                  <a:cs typeface="+mn-cs"/>
                                  <a:sym typeface="Arial"/>
                                </a:rPr>
                                <m:t>25        </m:t>
                              </m:r>
                            </m:oMath>
                          </a14:m>
                          <a:r>
                            <a:rPr lang="en-IN" sz="1000" b="0" i="1" u="none" strike="noStrike" cap="none" dirty="0">
                              <a:solidFill>
                                <a:schemeClr val="tx1"/>
                              </a:solidFill>
                              <a:effectLst/>
                              <a:latin typeface="+mn-lt"/>
                              <a:ea typeface="+mn-ea"/>
                              <a:cs typeface="+mn-cs"/>
                              <a:sym typeface="Arial"/>
                            </a:rPr>
                            <a:t>             </a:t>
                          </a:r>
                          <a:r>
                            <a:rPr lang="en-IN" sz="900" b="0" i="1" u="none" strike="noStrike" cap="none" dirty="0">
                              <a:solidFill>
                                <a:srgbClr val="0000FF"/>
                              </a:solidFill>
                              <a:effectLst/>
                              <a:latin typeface="+mn-lt"/>
                              <a:ea typeface="+mn-ea"/>
                              <a:cs typeface="+mn-cs"/>
                              <a:sym typeface="Arial"/>
                            </a:rPr>
                            <a:t>(Group 2 FNR)</a:t>
                          </a:r>
                        </a:p>
                        <a:p>
                          <a:pPr marL="171450" marR="0" indent="-171450" algn="l" rtl="0">
                            <a:lnSpc>
                              <a:spcPct val="100000"/>
                            </a:lnSpc>
                            <a:spcBef>
                              <a:spcPts val="0"/>
                            </a:spcBef>
                            <a:spcAft>
                              <a:spcPts val="0"/>
                            </a:spcAft>
                            <a:buClr>
                              <a:srgbClr val="000000"/>
                            </a:buClr>
                            <a:buFont typeface="Arial" panose="020B0604020202020204" pitchFamily="34" charset="0"/>
                            <a:buChar char="•"/>
                          </a:pPr>
                          <a14:m>
                            <m:oMath xmlns:m="http://schemas.openxmlformats.org/officeDocument/2006/math">
                              <m:sSub>
                                <m:sSubPr>
                                  <m:ctrlPr>
                                    <a:rPr lang="en-IN" sz="1000" b="0" i="1" u="none" strike="noStrike" cap="none">
                                      <a:solidFill>
                                        <a:schemeClr val="tx1"/>
                                      </a:solidFill>
                                      <a:effectLst/>
                                      <a:latin typeface="+mn-lt"/>
                                      <a:ea typeface="+mn-ea"/>
                                      <a:cs typeface="+mn-cs"/>
                                      <a:sym typeface="Arial"/>
                                    </a:rPr>
                                  </m:ctrlPr>
                                </m:sSubPr>
                                <m:e>
                                  <m:r>
                                    <a:rPr lang="en-IN" sz="1000" b="0" i="1" u="none" strike="noStrike" cap="none">
                                      <a:solidFill>
                                        <a:schemeClr val="tx1"/>
                                      </a:solidFill>
                                      <a:effectLst/>
                                      <a:latin typeface="+mn-lt"/>
                                      <a:ea typeface="+mn-ea"/>
                                      <a:cs typeface="+mn-cs"/>
                                      <a:sym typeface="Arial"/>
                                    </a:rPr>
                                    <m:t>𝑝</m:t>
                                  </m:r>
                                </m:e>
                                <m:sub>
                                  <m:r>
                                    <a:rPr lang="en-IN" sz="1000" b="0" i="1" u="none" strike="noStrike" cap="none">
                                      <a:solidFill>
                                        <a:schemeClr val="tx1"/>
                                      </a:solidFill>
                                      <a:effectLst/>
                                      <a:latin typeface="+mn-lt"/>
                                      <a:ea typeface="+mn-ea"/>
                                      <a:cs typeface="+mn-cs"/>
                                      <a:sym typeface="Arial"/>
                                    </a:rPr>
                                    <m:t>1</m:t>
                                  </m:r>
                                </m:sub>
                              </m:sSub>
                              <m:r>
                                <a:rPr lang="en-IN" sz="1000" b="0" i="1" u="none" strike="noStrike" cap="none">
                                  <a:solidFill>
                                    <a:schemeClr val="tx1"/>
                                  </a:solidFill>
                                  <a:effectLst/>
                                  <a:latin typeface="+mn-lt"/>
                                  <a:ea typeface="+mn-ea"/>
                                  <a:cs typeface="+mn-cs"/>
                                  <a:sym typeface="Arial"/>
                                </a:rPr>
                                <m:t>−</m:t>
                              </m:r>
                              <m:sSub>
                                <m:sSubPr>
                                  <m:ctrlPr>
                                    <a:rPr lang="en-IN" sz="1000" b="0" i="1" u="none" strike="noStrike" cap="none">
                                      <a:solidFill>
                                        <a:schemeClr val="tx1"/>
                                      </a:solidFill>
                                      <a:effectLst/>
                                      <a:latin typeface="+mn-lt"/>
                                      <a:ea typeface="+mn-ea"/>
                                      <a:cs typeface="+mn-cs"/>
                                      <a:sym typeface="Arial"/>
                                    </a:rPr>
                                  </m:ctrlPr>
                                </m:sSubPr>
                                <m:e>
                                  <m:r>
                                    <a:rPr lang="en-IN" sz="1000" b="0" i="1" u="none" strike="noStrike" cap="none">
                                      <a:solidFill>
                                        <a:schemeClr val="tx1"/>
                                      </a:solidFill>
                                      <a:effectLst/>
                                      <a:latin typeface="+mn-lt"/>
                                      <a:ea typeface="+mn-ea"/>
                                      <a:cs typeface="+mn-cs"/>
                                      <a:sym typeface="Arial"/>
                                    </a:rPr>
                                    <m:t>𝑝</m:t>
                                  </m:r>
                                </m:e>
                                <m:sub>
                                  <m:r>
                                    <a:rPr lang="en-IN" sz="1000" b="0" i="1" u="none" strike="noStrike" cap="none">
                                      <a:solidFill>
                                        <a:schemeClr val="tx1"/>
                                      </a:solidFill>
                                      <a:effectLst/>
                                      <a:latin typeface="+mn-lt"/>
                                      <a:ea typeface="+mn-ea"/>
                                      <a:cs typeface="+mn-cs"/>
                                      <a:sym typeface="Arial"/>
                                    </a:rPr>
                                    <m:t>2</m:t>
                                  </m:r>
                                </m:sub>
                              </m:sSub>
                              <m:r>
                                <a:rPr lang="en-IN" sz="1000" b="0" i="1" u="none" strike="noStrike" cap="none">
                                  <a:solidFill>
                                    <a:schemeClr val="tx1"/>
                                  </a:solidFill>
                                  <a:effectLst/>
                                  <a:latin typeface="+mn-lt"/>
                                  <a:ea typeface="+mn-ea"/>
                                  <a:cs typeface="+mn-cs"/>
                                  <a:sym typeface="Arial"/>
                                </a:rPr>
                                <m:t>=0.05</m:t>
                              </m:r>
                            </m:oMath>
                          </a14:m>
                          <a:r>
                            <a:rPr lang="en-IN" sz="1000" b="0" i="1" u="none" strike="noStrike" cap="none" dirty="0">
                              <a:solidFill>
                                <a:schemeClr val="tx1"/>
                              </a:solidFill>
                              <a:effectLst/>
                              <a:latin typeface="+mn-lt"/>
                              <a:ea typeface="+mn-ea"/>
                              <a:cs typeface="+mn-cs"/>
                              <a:sym typeface="Arial"/>
                            </a:rPr>
                            <a:t>        </a:t>
                          </a:r>
                          <a:r>
                            <a:rPr lang="en-IN" sz="900" b="0" i="1" u="none" strike="noStrike" cap="none" dirty="0">
                              <a:solidFill>
                                <a:srgbClr val="0000FF"/>
                              </a:solidFill>
                              <a:effectLst/>
                              <a:latin typeface="+mn-lt"/>
                              <a:ea typeface="+mn-ea"/>
                              <a:cs typeface="+mn-cs"/>
                              <a:sym typeface="Arial"/>
                            </a:rPr>
                            <a:t>(difference to detect)</a:t>
                          </a:r>
                          <a:endParaRPr lang="en-US" sz="900" b="0" i="1" u="none" strike="noStrike" cap="none" dirty="0">
                            <a:solidFill>
                              <a:srgbClr val="0000FF"/>
                            </a:solidFill>
                            <a:effectLst/>
                            <a:latin typeface="+mn-lt"/>
                            <a:ea typeface="+mn-ea"/>
                            <a:cs typeface="+mn-cs"/>
                            <a:sym typeface="Arial"/>
                          </a:endParaRPr>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vMerge="1">
                      <a:txBody>
                        <a:bodyPr/>
                        <a:lstStyle/>
                        <a:p>
                          <a:pPr>
                            <a:buNone/>
                          </a:pPr>
                          <a:endParaRPr lang="en-IN" sz="800" dirty="0"/>
                        </a:p>
                      </a:txBody>
                      <a:tcPr marL="53942" marR="53942" marT="26971" marB="2697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US" sz="800" b="1"/>
                            <a:t>1,093 positive cases per group</a:t>
                          </a:r>
                          <a:endParaRPr lang="en-US" sz="800"/>
                        </a:p>
                      </a:txBody>
                      <a:tcPr marL="53942" marR="53942" marT="26971" marB="26971" anchor="ctr">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7076069"/>
                      </a:ext>
                    </a:extLst>
                  </a:tr>
                  <a:tr h="532325">
                    <a:tc>
                      <a:txBody>
                        <a:bodyPr/>
                        <a:lstStyle/>
                        <a:p>
                          <a:pPr>
                            <a:buNone/>
                          </a:pPr>
                          <a:r>
                            <a:rPr lang="en-IN" sz="800"/>
                            <a:t>RQ3</a:t>
                          </a:r>
                        </a:p>
                      </a:txBody>
                      <a:tcPr marL="53942" marR="53942" marT="26971" marB="26971" anchor="ctr">
                        <a:lnL w="6350"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en-US" sz="900" dirty="0"/>
                            <a:t>Power analysis for paired t-test</a:t>
                          </a:r>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en-US" sz="900" dirty="0"/>
                            <a:t>Disparity metric before vs after rebalancing</a:t>
                          </a:r>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171450" marR="0" lvl="0" indent="-171450" algn="l" rtl="0">
                            <a:lnSpc>
                              <a:spcPct val="100000"/>
                            </a:lnSpc>
                            <a:spcBef>
                              <a:spcPts val="0"/>
                            </a:spcBef>
                            <a:spcAft>
                              <a:spcPts val="0"/>
                            </a:spcAft>
                            <a:buClr>
                              <a:srgbClr val="000000"/>
                            </a:buClr>
                            <a:buFont typeface="Arial" panose="020B0604020202020204" pitchFamily="34" charset="0"/>
                            <a:buChar char="•"/>
                          </a:pPr>
                          <a:r>
                            <a:rPr lang="en-IN" sz="1000" b="0" i="0" u="none" strike="noStrike" cap="none" dirty="0">
                              <a:solidFill>
                                <a:schemeClr val="tx1"/>
                              </a:solidFill>
                              <a:effectLst/>
                              <a:latin typeface="+mn-lt"/>
                              <a:ea typeface="+mn-ea"/>
                              <a:cs typeface="+mn-cs"/>
                              <a:sym typeface="Arial"/>
                            </a:rPr>
                            <a:t>medium effect</a:t>
                          </a:r>
                          <a:r>
                            <a:rPr lang="en-IN" sz="1100" b="0" i="0" u="none" strike="noStrike" cap="none" dirty="0">
                              <a:solidFill>
                                <a:schemeClr val="tx1"/>
                              </a:solidFill>
                              <a:effectLst/>
                              <a:latin typeface="+mn-lt"/>
                              <a:ea typeface="+mn-ea"/>
                              <a:cs typeface="+mn-cs"/>
                              <a:sym typeface="Arial"/>
                            </a:rPr>
                            <a:t>, </a:t>
                          </a:r>
                          <a14:m>
                            <m:oMath xmlns:m="http://schemas.openxmlformats.org/officeDocument/2006/math">
                              <m:r>
                                <a:rPr lang="en-IN" sz="1100" b="0" i="0" u="none" strike="noStrike" cap="none" smtClean="0">
                                  <a:solidFill>
                                    <a:schemeClr val="tx1"/>
                                  </a:solidFill>
                                  <a:effectLst/>
                                  <a:latin typeface="Cambria Math" panose="02040503050406030204" pitchFamily="18" charset="0"/>
                                  <a:ea typeface="+mn-ea"/>
                                  <a:cs typeface="+mn-cs"/>
                                  <a:sym typeface="Arial"/>
                                </a:rPr>
                                <m:t>    </m:t>
                              </m:r>
                              <m:r>
                                <m:rPr>
                                  <m:sty m:val="p"/>
                                </m:rPr>
                                <a:rPr lang="en-IN" sz="1100" b="0" i="0" u="none" strike="noStrike" cap="none">
                                  <a:solidFill>
                                    <a:schemeClr val="tx1"/>
                                  </a:solidFill>
                                  <a:effectLst/>
                                  <a:latin typeface="+mn-lt"/>
                                  <a:ea typeface="+mn-ea"/>
                                  <a:cs typeface="+mn-cs"/>
                                  <a:sym typeface="Arial"/>
                                </a:rPr>
                                <m:t>d</m:t>
                              </m:r>
                              <m:r>
                                <a:rPr lang="en-IN" sz="1100" b="0" i="0" u="none" strike="noStrike" cap="none">
                                  <a:solidFill>
                                    <a:schemeClr val="tx1"/>
                                  </a:solidFill>
                                  <a:effectLst/>
                                  <a:latin typeface="+mn-lt"/>
                                  <a:ea typeface="+mn-ea"/>
                                  <a:cs typeface="+mn-cs"/>
                                  <a:sym typeface="Arial"/>
                                </a:rPr>
                                <m:t>=0.5</m:t>
                              </m:r>
                            </m:oMath>
                          </a14:m>
                          <a:endParaRPr lang="en-US" sz="1100" b="0" i="0" u="none" strike="noStrike" cap="none" dirty="0">
                            <a:solidFill>
                              <a:schemeClr val="tx1"/>
                            </a:solidFill>
                            <a:effectLst/>
                            <a:latin typeface="+mn-lt"/>
                            <a:ea typeface="+mn-ea"/>
                            <a:cs typeface="+mn-cs"/>
                            <a:sym typeface="Arial"/>
                          </a:endParaRPr>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rowSpan="2">
                      <a:txBody>
                        <a:bodyPr/>
                        <a:lstStyle/>
                        <a:p>
                          <a:pPr>
                            <a:buNone/>
                          </a:pPr>
                          <a:endParaRPr lang="en-IN" sz="800" dirty="0"/>
                        </a:p>
                      </a:txBody>
                      <a:tcPr marL="53942" marR="53942" marT="26971" marB="26971" anchor="ct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a:buNone/>
                          </a:pPr>
                          <a:r>
                            <a:rPr lang="en-IN" sz="800" b="1"/>
                            <a:t>34 paired runs</a:t>
                          </a:r>
                          <a:endParaRPr lang="en-IN" sz="800"/>
                        </a:p>
                      </a:txBody>
                      <a:tcPr marL="53942" marR="53942" marT="26971" marB="26971" anchor="ctr">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0115483"/>
                      </a:ext>
                    </a:extLst>
                  </a:tr>
                  <a:tr h="596685">
                    <a:tc>
                      <a:txBody>
                        <a:bodyPr/>
                        <a:lstStyle/>
                        <a:p>
                          <a:pPr>
                            <a:buNone/>
                          </a:pPr>
                          <a:r>
                            <a:rPr lang="en-IN" sz="800"/>
                            <a:t>RQ4</a:t>
                          </a:r>
                        </a:p>
                      </a:txBody>
                      <a:tcPr marL="53942" marR="53942" marT="26971" marB="26971" anchor="ctr">
                        <a:lnL w="6350"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buNone/>
                          </a:pPr>
                          <a:r>
                            <a:rPr lang="en-US" sz="900" dirty="0"/>
                            <a:t>Power analysis for paired t-test</a:t>
                          </a:r>
                        </a:p>
                      </a:txBody>
                      <a:tcPr marL="53942" marR="53942" marT="26971" marB="26971" anchor="ct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buNone/>
                          </a:pPr>
                          <a:r>
                            <a:rPr lang="en-US" sz="900" dirty="0"/>
                            <a:t>Disparity/performance before vs after mitigation</a:t>
                          </a:r>
                        </a:p>
                      </a:txBody>
                      <a:tcPr marL="53942" marR="53942" marT="26971" marB="26971" anchor="ct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171450" marR="0" lvl="0" indent="-171450" algn="l" rtl="0">
                            <a:lnSpc>
                              <a:spcPct val="100000"/>
                            </a:lnSpc>
                            <a:spcBef>
                              <a:spcPts val="0"/>
                            </a:spcBef>
                            <a:spcAft>
                              <a:spcPts val="0"/>
                            </a:spcAft>
                            <a:buClr>
                              <a:srgbClr val="000000"/>
                            </a:buClr>
                            <a:buFont typeface="Arial" panose="020B0604020202020204" pitchFamily="34" charset="0"/>
                            <a:buChar char="•"/>
                          </a:pPr>
                          <a:r>
                            <a:rPr lang="en-IN" sz="1000" b="0" i="0" u="none" strike="noStrike" cap="none" dirty="0">
                              <a:solidFill>
                                <a:schemeClr val="tx1"/>
                              </a:solidFill>
                              <a:effectLst/>
                              <a:latin typeface="+mn-lt"/>
                              <a:ea typeface="+mn-ea"/>
                              <a:cs typeface="+mn-cs"/>
                              <a:sym typeface="Arial"/>
                            </a:rPr>
                            <a:t>medium effect, </a:t>
                          </a:r>
                          <a14:m>
                            <m:oMath xmlns:m="http://schemas.openxmlformats.org/officeDocument/2006/math">
                              <m:r>
                                <a:rPr lang="en-IN" sz="1100" b="0" i="0" u="none" strike="noStrike" cap="none" smtClean="0">
                                  <a:solidFill>
                                    <a:schemeClr val="tx1"/>
                                  </a:solidFill>
                                  <a:effectLst/>
                                  <a:latin typeface="Cambria Math" panose="02040503050406030204" pitchFamily="18" charset="0"/>
                                  <a:ea typeface="+mn-ea"/>
                                  <a:cs typeface="+mn-cs"/>
                                  <a:sym typeface="Arial"/>
                                </a:rPr>
                                <m:t>      </m:t>
                              </m:r>
                              <m:r>
                                <m:rPr>
                                  <m:sty m:val="p"/>
                                </m:rPr>
                                <a:rPr lang="en-IN" sz="1100" b="0" i="0" u="none" strike="noStrike" cap="none">
                                  <a:solidFill>
                                    <a:schemeClr val="tx1"/>
                                  </a:solidFill>
                                  <a:effectLst/>
                                  <a:latin typeface="Cambria Math" panose="02040503050406030204" pitchFamily="18" charset="0"/>
                                  <a:ea typeface="+mn-ea"/>
                                  <a:cs typeface="+mn-cs"/>
                                  <a:sym typeface="Arial"/>
                                </a:rPr>
                                <m:t>d</m:t>
                              </m:r>
                              <m:r>
                                <a:rPr lang="en-IN" sz="1100" b="0" i="0" u="none" strike="noStrike" cap="none">
                                  <a:solidFill>
                                    <a:schemeClr val="tx1"/>
                                  </a:solidFill>
                                  <a:effectLst/>
                                  <a:latin typeface="Cambria Math" panose="02040503050406030204" pitchFamily="18" charset="0"/>
                                  <a:ea typeface="+mn-ea"/>
                                  <a:cs typeface="+mn-cs"/>
                                  <a:sym typeface="Arial"/>
                                </a:rPr>
                                <m:t>=0.5</m:t>
                              </m:r>
                            </m:oMath>
                          </a14:m>
                          <a:endParaRPr lang="en-US" sz="1100" b="0" i="0" u="none" strike="noStrike" cap="none" dirty="0">
                            <a:solidFill>
                              <a:schemeClr val="tx1"/>
                            </a:solidFill>
                            <a:effectLst/>
                            <a:latin typeface="+mn-lt"/>
                            <a:ea typeface="+mn-ea"/>
                            <a:cs typeface="+mn-cs"/>
                            <a:sym typeface="Arial"/>
                          </a:endParaRPr>
                        </a:p>
                      </a:txBody>
                      <a:tcPr marL="53942" marR="53942" marT="26971" marB="26971" anchor="ct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vMerge="1">
                      <a:txBody>
                        <a:bodyPr/>
                        <a:lstStyle/>
                        <a:p>
                          <a:endParaRPr lang="en-IN"/>
                        </a:p>
                      </a:txBody>
                      <a:tcPr/>
                    </a:tc>
                    <a:tc>
                      <a:txBody>
                        <a:bodyPr/>
                        <a:lstStyle/>
                        <a:p>
                          <a:pPr algn="r">
                            <a:buNone/>
                          </a:pPr>
                          <a:r>
                            <a:rPr lang="en-IN" sz="800" b="1" dirty="0"/>
                            <a:t>34 paired runs</a:t>
                          </a:r>
                          <a:endParaRPr lang="en-IN" sz="800" dirty="0"/>
                        </a:p>
                      </a:txBody>
                      <a:tcPr marL="53942" marR="53942" marT="26971" marB="26971" anchor="ctr">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4123000"/>
                      </a:ext>
                    </a:extLst>
                  </a:tr>
                </a:tbl>
              </a:graphicData>
            </a:graphic>
          </p:graphicFrame>
        </mc:Choice>
        <mc:Fallback>
          <p:graphicFrame>
            <p:nvGraphicFramePr>
              <p:cNvPr id="4" name="Table 3">
                <a:extLst>
                  <a:ext uri="{FF2B5EF4-FFF2-40B4-BE49-F238E27FC236}">
                    <a16:creationId xmlns:a16="http://schemas.microsoft.com/office/drawing/2014/main" id="{C13F6584-F919-847B-699D-85616404DD2B}"/>
                  </a:ext>
                </a:extLst>
              </p:cNvPr>
              <p:cNvGraphicFramePr>
                <a:graphicFrameLocks noGrp="1"/>
              </p:cNvGraphicFramePr>
              <p:nvPr>
                <p:extLst>
                  <p:ext uri="{D42A27DB-BD31-4B8C-83A1-F6EECF244321}">
                    <p14:modId xmlns:p14="http://schemas.microsoft.com/office/powerpoint/2010/main" val="4041410512"/>
                  </p:ext>
                </p:extLst>
              </p:nvPr>
            </p:nvGraphicFramePr>
            <p:xfrm>
              <a:off x="451326" y="1089037"/>
              <a:ext cx="8444701" cy="3684055"/>
            </p:xfrm>
            <a:graphic>
              <a:graphicData uri="http://schemas.openxmlformats.org/drawingml/2006/table">
                <a:tbl>
                  <a:tblPr>
                    <a:tableStyleId>{2D5ABB26-0587-4C30-8999-92F81FD0307C}</a:tableStyleId>
                  </a:tblPr>
                  <a:tblGrid>
                    <a:gridCol w="579311">
                      <a:extLst>
                        <a:ext uri="{9D8B030D-6E8A-4147-A177-3AD203B41FA5}">
                          <a16:colId xmlns:a16="http://schemas.microsoft.com/office/drawing/2014/main" val="1964641796"/>
                        </a:ext>
                      </a:extLst>
                    </a:gridCol>
                    <a:gridCol w="1162373">
                      <a:extLst>
                        <a:ext uri="{9D8B030D-6E8A-4147-A177-3AD203B41FA5}">
                          <a16:colId xmlns:a16="http://schemas.microsoft.com/office/drawing/2014/main" val="770871216"/>
                        </a:ext>
                      </a:extLst>
                    </a:gridCol>
                    <a:gridCol w="1263112">
                      <a:extLst>
                        <a:ext uri="{9D8B030D-6E8A-4147-A177-3AD203B41FA5}">
                          <a16:colId xmlns:a16="http://schemas.microsoft.com/office/drawing/2014/main" val="4161145162"/>
                        </a:ext>
                      </a:extLst>
                    </a:gridCol>
                    <a:gridCol w="1433593">
                      <a:extLst>
                        <a:ext uri="{9D8B030D-6E8A-4147-A177-3AD203B41FA5}">
                          <a16:colId xmlns:a16="http://schemas.microsoft.com/office/drawing/2014/main" val="335348410"/>
                        </a:ext>
                      </a:extLst>
                    </a:gridCol>
                    <a:gridCol w="2882685">
                      <a:extLst>
                        <a:ext uri="{9D8B030D-6E8A-4147-A177-3AD203B41FA5}">
                          <a16:colId xmlns:a16="http://schemas.microsoft.com/office/drawing/2014/main" val="588442442"/>
                        </a:ext>
                      </a:extLst>
                    </a:gridCol>
                    <a:gridCol w="1123627">
                      <a:extLst>
                        <a:ext uri="{9D8B030D-6E8A-4147-A177-3AD203B41FA5}">
                          <a16:colId xmlns:a16="http://schemas.microsoft.com/office/drawing/2014/main" val="220065736"/>
                        </a:ext>
                      </a:extLst>
                    </a:gridCol>
                  </a:tblGrid>
                  <a:tr h="358742">
                    <a:tc>
                      <a:txBody>
                        <a:bodyPr/>
                        <a:lstStyle/>
                        <a:p>
                          <a:pPr algn="ctr">
                            <a:buNone/>
                          </a:pPr>
                          <a:r>
                            <a:rPr lang="en-IN" sz="1000" dirty="0">
                              <a:solidFill>
                                <a:schemeClr val="bg1"/>
                              </a:solidFill>
                            </a:rPr>
                            <a:t>RQ</a:t>
                          </a:r>
                        </a:p>
                      </a:txBody>
                      <a:tcPr marL="53942" marR="53942" marT="26971" marB="26971"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2"/>
                        </a:solidFill>
                      </a:tcPr>
                    </a:tc>
                    <a:tc>
                      <a:txBody>
                        <a:bodyPr/>
                        <a:lstStyle/>
                        <a:p>
                          <a:pPr algn="ctr">
                            <a:buNone/>
                          </a:pPr>
                          <a:r>
                            <a:rPr lang="en-IN" sz="1000" dirty="0">
                              <a:solidFill>
                                <a:schemeClr val="bg1"/>
                              </a:solidFill>
                            </a:rPr>
                            <a:t>Method used</a:t>
                          </a:r>
                        </a:p>
                      </a:txBody>
                      <a:tcPr marL="53942" marR="53942" marT="26971" marB="26971" anchor="ct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2"/>
                        </a:solidFill>
                      </a:tcPr>
                    </a:tc>
                    <a:tc>
                      <a:txBody>
                        <a:bodyPr/>
                        <a:lstStyle/>
                        <a:p>
                          <a:pPr algn="ctr">
                            <a:buNone/>
                          </a:pPr>
                          <a:r>
                            <a:rPr lang="en-IN" sz="1000" dirty="0">
                              <a:solidFill>
                                <a:schemeClr val="bg1"/>
                              </a:solidFill>
                            </a:rPr>
                            <a:t>Key outcome compared</a:t>
                          </a:r>
                        </a:p>
                      </a:txBody>
                      <a:tcPr marL="53942" marR="53942" marT="26971" marB="26971" anchor="ct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2"/>
                        </a:solidFill>
                      </a:tcPr>
                    </a:tc>
                    <a:tc>
                      <a:txBody>
                        <a:bodyPr/>
                        <a:lstStyle/>
                        <a:p>
                          <a:pPr algn="ctr">
                            <a:buNone/>
                          </a:pPr>
                          <a:r>
                            <a:rPr lang="en-IN" sz="1000" dirty="0">
                              <a:solidFill>
                                <a:schemeClr val="bg1"/>
                              </a:solidFill>
                            </a:rPr>
                            <a:t>Key parameters</a:t>
                          </a:r>
                        </a:p>
                      </a:txBody>
                      <a:tcPr marL="53942" marR="53942" marT="26971" marB="26971" anchor="ct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2"/>
                        </a:solidFill>
                      </a:tcPr>
                    </a:tc>
                    <a:tc>
                      <a:txBody>
                        <a:bodyPr/>
                        <a:lstStyle/>
                        <a:p>
                          <a:pPr algn="ctr">
                            <a:buNone/>
                          </a:pPr>
                          <a:r>
                            <a:rPr lang="en-IN" sz="1000" dirty="0">
                              <a:solidFill>
                                <a:schemeClr val="bg1"/>
                              </a:solidFill>
                            </a:rPr>
                            <a:t>Formula used</a:t>
                          </a:r>
                        </a:p>
                      </a:txBody>
                      <a:tcPr marL="53942" marR="53942" marT="26971" marB="26971" anchor="ct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2"/>
                        </a:solidFill>
                      </a:tcPr>
                    </a:tc>
                    <a:tc>
                      <a:txBody>
                        <a:bodyPr/>
                        <a:lstStyle/>
                        <a:p>
                          <a:pPr algn="ctr">
                            <a:buNone/>
                          </a:pPr>
                          <a:r>
                            <a:rPr lang="en-IN" sz="1000" dirty="0">
                              <a:solidFill>
                                <a:schemeClr val="bg1"/>
                              </a:solidFill>
                            </a:rPr>
                            <a:t>Minimum sample size</a:t>
                          </a:r>
                        </a:p>
                      </a:txBody>
                      <a:tcPr marL="53942" marR="53942" marT="26971" marB="26971"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203426902"/>
                      </a:ext>
                    </a:extLst>
                  </a:tr>
                  <a:tr h="1174188">
                    <a:tc>
                      <a:txBody>
                        <a:bodyPr/>
                        <a:lstStyle/>
                        <a:p>
                          <a:pPr>
                            <a:buNone/>
                          </a:pPr>
                          <a:r>
                            <a:rPr lang="en-IN" sz="800" dirty="0"/>
                            <a:t>RQ1</a:t>
                          </a:r>
                        </a:p>
                      </a:txBody>
                      <a:tcPr marL="53942" marR="53942" marT="26971" marB="26971" anchor="ctr">
                        <a:lnL w="6350"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en-US" sz="900" dirty="0"/>
                            <a:t>Power analysis for two-proportion test</a:t>
                          </a:r>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en-IN" sz="900" dirty="0"/>
                            <a:t>Correct classification proportion across groups</a:t>
                          </a:r>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blipFill>
                          <a:blip r:embed="rId3"/>
                          <a:stretch>
                            <a:fillRect l="-210213" t="-32124" r="-280426" b="-183938"/>
                          </a:stretch>
                        </a:blipFill>
                      </a:tcPr>
                    </a:tc>
                    <a:tc rowSpan="2">
                      <a:txBody>
                        <a:bodyPr/>
                        <a:lstStyle/>
                        <a:p>
                          <a:pPr>
                            <a:buNone/>
                          </a:pPr>
                          <a:endParaRPr lang="en-IN" sz="800" dirty="0"/>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buNone/>
                          </a:pPr>
                          <a:r>
                            <a:rPr lang="en-IN" sz="800" b="1"/>
                            <a:t>1,093 per group</a:t>
                          </a:r>
                          <a:endParaRPr lang="en-IN" sz="800"/>
                        </a:p>
                      </a:txBody>
                      <a:tcPr marL="53942" marR="53942" marT="26971" marB="26971" anchor="ctr">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3014195"/>
                      </a:ext>
                    </a:extLst>
                  </a:tr>
                  <a:tr h="1022115">
                    <a:tc>
                      <a:txBody>
                        <a:bodyPr/>
                        <a:lstStyle/>
                        <a:p>
                          <a:pPr>
                            <a:buNone/>
                          </a:pPr>
                          <a:r>
                            <a:rPr lang="en-IN" sz="800"/>
                            <a:t>RQ2</a:t>
                          </a:r>
                        </a:p>
                      </a:txBody>
                      <a:tcPr marL="53942" marR="53942" marT="26971" marB="26971" anchor="ctr">
                        <a:lnL w="6350"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en-US" sz="900" dirty="0"/>
                            <a:t>Power analysis for two-proportion test</a:t>
                          </a:r>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en-US" sz="900" dirty="0"/>
                            <a:t>False negative rate across groups</a:t>
                          </a:r>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blipFill>
                          <a:blip r:embed="rId3"/>
                          <a:stretch>
                            <a:fillRect l="-210213" t="-151786" r="-280426" b="-111310"/>
                          </a:stretch>
                        </a:blipFill>
                      </a:tcPr>
                    </a:tc>
                    <a:tc vMerge="1">
                      <a:txBody>
                        <a:bodyPr/>
                        <a:lstStyle/>
                        <a:p>
                          <a:pPr>
                            <a:buNone/>
                          </a:pPr>
                          <a:endParaRPr lang="en-IN" sz="800" dirty="0"/>
                        </a:p>
                      </a:txBody>
                      <a:tcPr marL="53942" marR="53942" marT="26971" marB="2697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US" sz="800" b="1"/>
                            <a:t>1,093 positive cases per group</a:t>
                          </a:r>
                          <a:endParaRPr lang="en-US" sz="800"/>
                        </a:p>
                      </a:txBody>
                      <a:tcPr marL="53942" marR="53942" marT="26971" marB="26971" anchor="ctr">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7076069"/>
                      </a:ext>
                    </a:extLst>
                  </a:tr>
                  <a:tr h="532325">
                    <a:tc>
                      <a:txBody>
                        <a:bodyPr/>
                        <a:lstStyle/>
                        <a:p>
                          <a:pPr>
                            <a:buNone/>
                          </a:pPr>
                          <a:r>
                            <a:rPr lang="en-IN" sz="800"/>
                            <a:t>RQ3</a:t>
                          </a:r>
                        </a:p>
                      </a:txBody>
                      <a:tcPr marL="53942" marR="53942" marT="26971" marB="26971" anchor="ctr">
                        <a:lnL w="6350"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en-US" sz="900" dirty="0"/>
                            <a:t>Power analysis for paired t-test</a:t>
                          </a:r>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en-US" sz="900" dirty="0"/>
                            <a:t>Disparity metric before vs after rebalancing</a:t>
                          </a:r>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a:p>
                      </a:txBody>
                      <a:tcPr marL="53942" marR="53942" marT="26971" marB="26971"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blipFill>
                          <a:blip r:embed="rId3"/>
                          <a:stretch>
                            <a:fillRect l="-210213" t="-486207" r="-280426" b="-114943"/>
                          </a:stretch>
                        </a:blipFill>
                      </a:tcPr>
                    </a:tc>
                    <a:tc rowSpan="2">
                      <a:txBody>
                        <a:bodyPr/>
                        <a:lstStyle/>
                        <a:p>
                          <a:pPr>
                            <a:buNone/>
                          </a:pPr>
                          <a:endParaRPr lang="en-IN" sz="800" dirty="0"/>
                        </a:p>
                      </a:txBody>
                      <a:tcPr marL="53942" marR="53942" marT="26971" marB="26971" anchor="ct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a:buNone/>
                          </a:pPr>
                          <a:r>
                            <a:rPr lang="en-IN" sz="800" b="1"/>
                            <a:t>34 paired runs</a:t>
                          </a:r>
                          <a:endParaRPr lang="en-IN" sz="800"/>
                        </a:p>
                      </a:txBody>
                      <a:tcPr marL="53942" marR="53942" marT="26971" marB="26971" anchor="ctr">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0115483"/>
                      </a:ext>
                    </a:extLst>
                  </a:tr>
                  <a:tr h="596685">
                    <a:tc>
                      <a:txBody>
                        <a:bodyPr/>
                        <a:lstStyle/>
                        <a:p>
                          <a:pPr>
                            <a:buNone/>
                          </a:pPr>
                          <a:r>
                            <a:rPr lang="en-IN" sz="800"/>
                            <a:t>RQ4</a:t>
                          </a:r>
                        </a:p>
                      </a:txBody>
                      <a:tcPr marL="53942" marR="53942" marT="26971" marB="26971" anchor="ctr">
                        <a:lnL w="6350"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buNone/>
                          </a:pPr>
                          <a:r>
                            <a:rPr lang="en-US" sz="900" dirty="0"/>
                            <a:t>Power analysis for paired t-test</a:t>
                          </a:r>
                        </a:p>
                      </a:txBody>
                      <a:tcPr marL="53942" marR="53942" marT="26971" marB="26971" anchor="ct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buNone/>
                          </a:pPr>
                          <a:r>
                            <a:rPr lang="en-US" sz="900" dirty="0"/>
                            <a:t>Disparity/performance before vs after mitigation</a:t>
                          </a:r>
                        </a:p>
                      </a:txBody>
                      <a:tcPr marL="53942" marR="53942" marT="26971" marB="26971" anchor="ct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a:p>
                      </a:txBody>
                      <a:tcPr marL="53942" marR="53942" marT="26971" marB="26971" anchor="ct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blipFill>
                          <a:blip r:embed="rId3"/>
                          <a:stretch>
                            <a:fillRect l="-210213" t="-520408" r="-280426" b="-2041"/>
                          </a:stretch>
                        </a:blipFill>
                      </a:tcPr>
                    </a:tc>
                    <a:tc vMerge="1">
                      <a:txBody>
                        <a:bodyPr/>
                        <a:lstStyle/>
                        <a:p>
                          <a:endParaRPr lang="en-IN"/>
                        </a:p>
                      </a:txBody>
                      <a:tcPr/>
                    </a:tc>
                    <a:tc>
                      <a:txBody>
                        <a:bodyPr/>
                        <a:lstStyle/>
                        <a:p>
                          <a:pPr algn="r">
                            <a:buNone/>
                          </a:pPr>
                          <a:r>
                            <a:rPr lang="en-IN" sz="800" b="1" dirty="0"/>
                            <a:t>34 paired runs</a:t>
                          </a:r>
                          <a:endParaRPr lang="en-IN" sz="800" dirty="0"/>
                        </a:p>
                      </a:txBody>
                      <a:tcPr marL="53942" marR="53942" marT="26971" marB="26971" anchor="ctr">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4123000"/>
                      </a:ext>
                    </a:extLst>
                  </a:tr>
                </a:tbl>
              </a:graphicData>
            </a:graphic>
          </p:graphicFrame>
        </mc:Fallback>
      </mc:AlternateContent>
      <p:pic>
        <p:nvPicPr>
          <p:cNvPr id="6" name="Picture 5">
            <a:extLst>
              <a:ext uri="{FF2B5EF4-FFF2-40B4-BE49-F238E27FC236}">
                <a16:creationId xmlns:a16="http://schemas.microsoft.com/office/drawing/2014/main" id="{6EA316B5-77D8-0F27-5129-4819F7B41ED4}"/>
              </a:ext>
            </a:extLst>
          </p:cNvPr>
          <p:cNvPicPr>
            <a:picLocks noChangeAspect="1"/>
          </p:cNvPicPr>
          <p:nvPr/>
        </p:nvPicPr>
        <p:blipFill>
          <a:blip r:embed="rId4"/>
          <a:stretch>
            <a:fillRect/>
          </a:stretch>
        </p:blipFill>
        <p:spPr>
          <a:xfrm>
            <a:off x="4738675" y="2247254"/>
            <a:ext cx="3150788" cy="704204"/>
          </a:xfrm>
          <a:prstGeom prst="rect">
            <a:avLst/>
          </a:prstGeom>
        </p:spPr>
      </p:pic>
      <p:pic>
        <p:nvPicPr>
          <p:cNvPr id="7" name="Picture 6">
            <a:extLst>
              <a:ext uri="{FF2B5EF4-FFF2-40B4-BE49-F238E27FC236}">
                <a16:creationId xmlns:a16="http://schemas.microsoft.com/office/drawing/2014/main" id="{CDDF154A-B929-37F3-0EE7-EE19E911114A}"/>
              </a:ext>
            </a:extLst>
          </p:cNvPr>
          <p:cNvPicPr>
            <a:picLocks noChangeAspect="1"/>
          </p:cNvPicPr>
          <p:nvPr/>
        </p:nvPicPr>
        <p:blipFill>
          <a:blip r:embed="rId5"/>
          <a:stretch>
            <a:fillRect/>
          </a:stretch>
        </p:blipFill>
        <p:spPr>
          <a:xfrm>
            <a:off x="5614383" y="3950792"/>
            <a:ext cx="1669700" cy="598459"/>
          </a:xfrm>
          <a:prstGeom prst="rect">
            <a:avLst/>
          </a:prstGeom>
        </p:spPr>
      </p:pic>
      <p:pic>
        <p:nvPicPr>
          <p:cNvPr id="10" name="Picture 9">
            <a:extLst>
              <a:ext uri="{FF2B5EF4-FFF2-40B4-BE49-F238E27FC236}">
                <a16:creationId xmlns:a16="http://schemas.microsoft.com/office/drawing/2014/main" id="{1F31CFD9-5CDE-AFC7-D2A3-A80A06B78C6D}"/>
              </a:ext>
            </a:extLst>
          </p:cNvPr>
          <p:cNvPicPr>
            <a:picLocks noChangeAspect="1"/>
          </p:cNvPicPr>
          <p:nvPr/>
        </p:nvPicPr>
        <p:blipFill>
          <a:blip r:embed="rId6"/>
          <a:stretch>
            <a:fillRect/>
          </a:stretch>
        </p:blipFill>
        <p:spPr>
          <a:xfrm>
            <a:off x="6247454" y="60399"/>
            <a:ext cx="1199362" cy="955048"/>
          </a:xfrm>
          <a:prstGeom prst="rect">
            <a:avLst/>
          </a:prstGeom>
        </p:spPr>
      </p:pic>
    </p:spTree>
    <p:extLst>
      <p:ext uri="{BB962C8B-B14F-4D97-AF65-F5344CB8AC3E}">
        <p14:creationId xmlns:p14="http://schemas.microsoft.com/office/powerpoint/2010/main" val="3358355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6CAA3FA-222D-3A37-3084-644B1871CD09}"/>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ECA7F8FD-884C-9B28-4A37-7EFB33A4AEF3}"/>
              </a:ext>
            </a:extLst>
          </p:cNvPr>
          <p:cNvSpPr>
            <a:spLocks noGrp="1"/>
          </p:cNvSpPr>
          <p:nvPr>
            <p:ph type="title"/>
          </p:nvPr>
        </p:nvSpPr>
        <p:spPr>
          <a:xfrm>
            <a:off x="201972" y="288368"/>
            <a:ext cx="8520600" cy="572700"/>
          </a:xfrm>
        </p:spPr>
        <p:txBody>
          <a:bodyPr wrap="square" anchor="ctr">
            <a:normAutofit fontScale="90000"/>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Applications</a:t>
            </a:r>
          </a:p>
        </p:txBody>
      </p:sp>
      <p:sp>
        <p:nvSpPr>
          <p:cNvPr id="4" name="TextBox 3">
            <a:extLst>
              <a:ext uri="{FF2B5EF4-FFF2-40B4-BE49-F238E27FC236}">
                <a16:creationId xmlns:a16="http://schemas.microsoft.com/office/drawing/2014/main" id="{C3E7CDF0-2122-1254-36E6-7381E01535B3}"/>
              </a:ext>
            </a:extLst>
          </p:cNvPr>
          <p:cNvSpPr txBox="1"/>
          <p:nvPr/>
        </p:nvSpPr>
        <p:spPr>
          <a:xfrm>
            <a:off x="317180" y="1046862"/>
            <a:ext cx="8509639" cy="2644250"/>
          </a:xfrm>
          <a:prstGeom prst="rect">
            <a:avLst/>
          </a:prstGeom>
          <a:noFill/>
        </p:spPr>
        <p:txBody>
          <a:bodyPr wrap="square">
            <a:spAutoFit/>
          </a:bodyPr>
          <a:lstStyle/>
          <a:p>
            <a:pPr marL="228600" indent="-228600" algn="just">
              <a:lnSpc>
                <a:spcPct val="150000"/>
              </a:lnSpc>
              <a:buFont typeface="+mj-lt"/>
              <a:buAutoNum type="arabicPeriod"/>
            </a:pPr>
            <a:r>
              <a:rPr lang="en-IN" b="1" dirty="0">
                <a:effectLst/>
                <a:latin typeface="Calibri" panose="020F0502020204030204" pitchFamily="34" charset="0"/>
                <a:ea typeface="Calibri" panose="020F0502020204030204" pitchFamily="34" charset="0"/>
                <a:cs typeface="Calibri" panose="020F0502020204030204" pitchFamily="34" charset="0"/>
              </a:rPr>
              <a:t>Readmission Risk Prediction Systems : </a:t>
            </a:r>
            <a:r>
              <a:rPr lang="en-IN" dirty="0">
                <a:effectLst/>
                <a:latin typeface="Calibri" panose="020F0502020204030204" pitchFamily="34" charset="0"/>
                <a:ea typeface="Calibri" panose="020F0502020204030204" pitchFamily="34" charset="0"/>
                <a:cs typeface="Calibri" panose="020F0502020204030204" pitchFamily="34" charset="0"/>
              </a:rPr>
              <a:t>Hospitals use models to identify high-risk patients and allocate follow-up care. This study helps ensure: these systems are fair across groups </a:t>
            </a:r>
          </a:p>
          <a:p>
            <a:pPr marL="228600" indent="-228600" algn="just">
              <a:lnSpc>
                <a:spcPct val="150000"/>
              </a:lnSpc>
              <a:buFont typeface="+mj-lt"/>
              <a:buAutoNum type="arabicPeriod"/>
            </a:pPr>
            <a:r>
              <a:rPr lang="en-IN" b="1" dirty="0">
                <a:effectLst/>
                <a:latin typeface="Calibri" panose="020F0502020204030204" pitchFamily="34" charset="0"/>
                <a:ea typeface="Calibri" panose="020F0502020204030204" pitchFamily="34" charset="0"/>
                <a:cs typeface="Calibri" panose="020F0502020204030204" pitchFamily="34" charset="0"/>
              </a:rPr>
              <a:t>Fairness Audits of AI Systems : </a:t>
            </a:r>
            <a:r>
              <a:rPr lang="en-IN" dirty="0">
                <a:effectLst/>
                <a:latin typeface="Calibri" panose="020F0502020204030204" pitchFamily="34" charset="0"/>
                <a:ea typeface="Calibri" panose="020F0502020204030204" pitchFamily="34" charset="0"/>
                <a:cs typeface="Calibri" panose="020F0502020204030204" pitchFamily="34" charset="0"/>
              </a:rPr>
              <a:t>Hospitals can audit models before deployment and detect bias This framework becomes: a bias evaluation template </a:t>
            </a:r>
          </a:p>
          <a:p>
            <a:pPr marL="228600" indent="-228600" algn="just">
              <a:lnSpc>
                <a:spcPct val="150000"/>
              </a:lnSpc>
              <a:buFont typeface="+mj-lt"/>
              <a:buAutoNum type="arabicPeriod"/>
            </a:pPr>
            <a:r>
              <a:rPr lang="en-IN" b="1" dirty="0">
                <a:effectLst/>
                <a:latin typeface="Calibri" panose="020F0502020204030204" pitchFamily="34" charset="0"/>
                <a:ea typeface="Calibri" panose="020F0502020204030204" pitchFamily="34" charset="0"/>
                <a:cs typeface="Calibri" panose="020F0502020204030204" pitchFamily="34" charset="0"/>
              </a:rPr>
              <a:t>Resource Allocation Decisions : </a:t>
            </a:r>
            <a:r>
              <a:rPr lang="en-IN" dirty="0">
                <a:effectLst/>
                <a:latin typeface="Calibri" panose="020F0502020204030204" pitchFamily="34" charset="0"/>
                <a:ea typeface="Calibri" panose="020F0502020204030204" pitchFamily="34" charset="0"/>
                <a:cs typeface="Calibri" panose="020F0502020204030204" pitchFamily="34" charset="0"/>
              </a:rPr>
              <a:t>Care managers decide: who gets intervention and who gets follow-up. Bias could lead to: unequal allocation. This study helps: make allocation equitable </a:t>
            </a:r>
          </a:p>
          <a:p>
            <a:pPr marL="228600" indent="-228600" algn="just">
              <a:lnSpc>
                <a:spcPct val="150000"/>
              </a:lnSpc>
              <a:buFont typeface="+mj-lt"/>
              <a:buAutoNum type="arabicPeriod"/>
            </a:pPr>
            <a:r>
              <a:rPr lang="en-IN" b="1" dirty="0">
                <a:effectLst/>
                <a:latin typeface="Calibri" panose="020F0502020204030204" pitchFamily="34" charset="0"/>
                <a:ea typeface="Calibri" panose="020F0502020204030204" pitchFamily="34" charset="0"/>
                <a:cs typeface="Calibri" panose="020F0502020204030204" pitchFamily="34" charset="0"/>
              </a:rPr>
              <a:t>Regulatory &amp; Compliance Readiness : </a:t>
            </a:r>
            <a:r>
              <a:rPr lang="en-IN" dirty="0">
                <a:effectLst/>
                <a:latin typeface="Calibri" panose="020F0502020204030204" pitchFamily="34" charset="0"/>
                <a:ea typeface="Calibri" panose="020F0502020204030204" pitchFamily="34" charset="0"/>
                <a:cs typeface="Calibri" panose="020F0502020204030204" pitchFamily="34" charset="0"/>
              </a:rPr>
              <a:t>Healthcare increasingly requires: explainability and fairness. This  study supports: compliance with ethical AI guidelines</a:t>
            </a:r>
          </a:p>
        </p:txBody>
      </p:sp>
    </p:spTree>
    <p:extLst>
      <p:ext uri="{BB962C8B-B14F-4D97-AF65-F5344CB8AC3E}">
        <p14:creationId xmlns:p14="http://schemas.microsoft.com/office/powerpoint/2010/main" val="38346120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7">
          <a:extLst>
            <a:ext uri="{FF2B5EF4-FFF2-40B4-BE49-F238E27FC236}">
              <a16:creationId xmlns:a16="http://schemas.microsoft.com/office/drawing/2014/main" id="{4D9B1AFA-DA7E-7B4A-31FF-1B5FBEA8F1E7}"/>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C2EEAD44-30ED-055A-4E69-7E51A38C2DB9}"/>
              </a:ext>
            </a:extLst>
          </p:cNvPr>
          <p:cNvSpPr>
            <a:spLocks noGrp="1"/>
          </p:cNvSpPr>
          <p:nvPr>
            <p:ph type="title"/>
          </p:nvPr>
        </p:nvSpPr>
        <p:spPr>
          <a:xfrm>
            <a:off x="201972" y="288368"/>
            <a:ext cx="8520600" cy="572700"/>
          </a:xfrm>
        </p:spPr>
        <p:txBody>
          <a:bodyPr wrap="square" anchor="ctr">
            <a:normAutofit fontScale="90000"/>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Recommendations</a:t>
            </a:r>
          </a:p>
        </p:txBody>
      </p:sp>
      <p:graphicFrame>
        <p:nvGraphicFramePr>
          <p:cNvPr id="2" name="Table 1">
            <a:extLst>
              <a:ext uri="{FF2B5EF4-FFF2-40B4-BE49-F238E27FC236}">
                <a16:creationId xmlns:a16="http://schemas.microsoft.com/office/drawing/2014/main" id="{5C3D2768-E5DB-8FB2-9210-F7C22DF63859}"/>
              </a:ext>
            </a:extLst>
          </p:cNvPr>
          <p:cNvGraphicFramePr>
            <a:graphicFrameLocks noGrp="1"/>
          </p:cNvGraphicFramePr>
          <p:nvPr>
            <p:extLst>
              <p:ext uri="{D42A27DB-BD31-4B8C-83A1-F6EECF244321}">
                <p14:modId xmlns:p14="http://schemas.microsoft.com/office/powerpoint/2010/main" val="88321147"/>
              </p:ext>
            </p:extLst>
          </p:nvPr>
        </p:nvGraphicFramePr>
        <p:xfrm>
          <a:off x="317180" y="861068"/>
          <a:ext cx="8509639" cy="3994064"/>
        </p:xfrm>
        <a:graphic>
          <a:graphicData uri="http://schemas.openxmlformats.org/drawingml/2006/table">
            <a:tbl>
              <a:tblPr firstRow="1" firstCol="1" bandRow="1">
                <a:tableStyleId>{9D7B26C5-4107-4FEC-AEDC-1716B250A1EF}</a:tableStyleId>
              </a:tblPr>
              <a:tblGrid>
                <a:gridCol w="832704">
                  <a:extLst>
                    <a:ext uri="{9D8B030D-6E8A-4147-A177-3AD203B41FA5}">
                      <a16:colId xmlns:a16="http://schemas.microsoft.com/office/drawing/2014/main" val="1131561941"/>
                    </a:ext>
                  </a:extLst>
                </a:gridCol>
                <a:gridCol w="1869763">
                  <a:extLst>
                    <a:ext uri="{9D8B030D-6E8A-4147-A177-3AD203B41FA5}">
                      <a16:colId xmlns:a16="http://schemas.microsoft.com/office/drawing/2014/main" val="2169674154"/>
                    </a:ext>
                  </a:extLst>
                </a:gridCol>
                <a:gridCol w="5807172">
                  <a:extLst>
                    <a:ext uri="{9D8B030D-6E8A-4147-A177-3AD203B41FA5}">
                      <a16:colId xmlns:a16="http://schemas.microsoft.com/office/drawing/2014/main" val="2808038229"/>
                    </a:ext>
                  </a:extLst>
                </a:gridCol>
              </a:tblGrid>
              <a:tr h="360819">
                <a:tc>
                  <a:txBody>
                    <a:bodyPr/>
                    <a:lstStyle/>
                    <a:p>
                      <a:pPr marL="228600" algn="l" fontAlgn="t">
                        <a:lnSpc>
                          <a:spcPct val="100000"/>
                        </a:lnSpc>
                        <a:buNone/>
                      </a:pPr>
                      <a:r>
                        <a:rPr lang="en-IN" sz="1400" b="1"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No</a:t>
                      </a:r>
                      <a:endParaRPr lang="en-IN" sz="140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bg2"/>
                    </a:solidFill>
                  </a:tcPr>
                </a:tc>
                <a:tc>
                  <a:txBody>
                    <a:bodyPr/>
                    <a:lstStyle/>
                    <a:p>
                      <a:pPr marL="228600" algn="l" fontAlgn="t">
                        <a:lnSpc>
                          <a:spcPct val="100000"/>
                        </a:lnSpc>
                        <a:buNone/>
                      </a:pPr>
                      <a:r>
                        <a:rPr lang="en-IN" sz="1400" b="1"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Result</a:t>
                      </a:r>
                      <a:endParaRPr lang="en-IN" sz="140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bg2"/>
                    </a:solidFill>
                  </a:tcPr>
                </a:tc>
                <a:tc>
                  <a:txBody>
                    <a:bodyPr/>
                    <a:lstStyle/>
                    <a:p>
                      <a:pPr marL="228600" algn="l" fontAlgn="t">
                        <a:lnSpc>
                          <a:spcPct val="100000"/>
                        </a:lnSpc>
                        <a:buNone/>
                      </a:pPr>
                      <a:r>
                        <a:rPr lang="en-IN" sz="1400" b="1"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Recommendation</a:t>
                      </a:r>
                      <a:endParaRPr lang="en-IN" sz="140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bg2"/>
                    </a:solidFill>
                  </a:tcPr>
                </a:tc>
                <a:extLst>
                  <a:ext uri="{0D108BD9-81ED-4DB2-BD59-A6C34878D82A}">
                    <a16:rowId xmlns:a16="http://schemas.microsoft.com/office/drawing/2014/main" val="2430365068"/>
                  </a:ext>
                </a:extLst>
              </a:tr>
              <a:tr h="2034729">
                <a:tc>
                  <a:txBody>
                    <a:bodyPr/>
                    <a:lstStyle/>
                    <a:p>
                      <a:pPr marL="0" algn="ctr" fontAlgn="t">
                        <a:lnSpc>
                          <a:spcPct val="100000"/>
                        </a:lnSpc>
                        <a:buNone/>
                      </a:pPr>
                      <a:r>
                        <a:rPr lang="en-IN" sz="12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1</a:t>
                      </a:r>
                      <a:endParaRPr lang="en-IN" sz="1200" b="1"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bg1">
                        <a:lumMod val="95000"/>
                        <a:alpha val="20000"/>
                      </a:schemeClr>
                    </a:solidFill>
                  </a:tcPr>
                </a:tc>
                <a:tc>
                  <a:txBody>
                    <a:bodyPr/>
                    <a:lstStyle/>
                    <a:p>
                      <a:r>
                        <a:rPr lang="en-IN" sz="1100" b="1"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If Bias is detected</a:t>
                      </a:r>
                      <a:endPar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endParaRPr>
                    </a:p>
                  </a:txBody>
                  <a:tcPr marL="36000" marR="36000" marT="36000" marB="36000" anchor="ctr">
                    <a:solidFill>
                      <a:schemeClr val="bg1">
                        <a:lumMod val="95000"/>
                        <a:alpha val="20000"/>
                      </a:schemeClr>
                    </a:solidFill>
                  </a:tcPr>
                </a:tc>
                <a:tc>
                  <a:txBody>
                    <a:bodyPr/>
                    <a:lstStyle/>
                    <a:p>
                      <a:r>
                        <a:rPr lang="en-IN" sz="1100" b="1"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Recommendation 1: Implement bias monitoring</a:t>
                      </a:r>
                      <a:endPar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endParaRPr>
                    </a:p>
                    <a:p>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Healthcare organizations should routinely evaluate predictive models for disparities across demographic groups before and after deployment.</a:t>
                      </a:r>
                    </a:p>
                    <a:p>
                      <a:r>
                        <a:rPr lang="en-IN" sz="1100" b="1"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Recommendation 2: Use fairness-aware modelling</a:t>
                      </a:r>
                      <a:endPar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endParaRPr>
                    </a:p>
                    <a:p>
                      <a:pPr lvl="0"/>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Apply: class balancing and reweighting </a:t>
                      </a:r>
                    </a:p>
                    <a:p>
                      <a:r>
                        <a:rPr lang="en-IN" sz="1100" b="1"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Recommendation 3: Include fairness metrics in evaluation</a:t>
                      </a:r>
                      <a:endPar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endParaRPr>
                    </a:p>
                    <a:p>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Model evaluation should extend beyond accuracy to include fairness metrics such as false negative rate across demographic groups.</a:t>
                      </a:r>
                    </a:p>
                    <a:p>
                      <a:r>
                        <a:rPr lang="en-IN" sz="1100" b="1"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Recommendation 4: Human-in-the-loop decision making</a:t>
                      </a:r>
                      <a:endPar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endParaRPr>
                    </a:p>
                    <a:p>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AI predictions should be supplemented with clinical judgment, particularly for high-risk decisions.</a:t>
                      </a:r>
                    </a:p>
                  </a:txBody>
                  <a:tcPr marL="108000" marR="36000" marT="36000" marB="36000" anchor="ctr">
                    <a:solidFill>
                      <a:schemeClr val="bg1">
                        <a:lumMod val="95000"/>
                        <a:alpha val="20000"/>
                      </a:schemeClr>
                    </a:solidFill>
                  </a:tcPr>
                </a:tc>
                <a:extLst>
                  <a:ext uri="{0D108BD9-81ED-4DB2-BD59-A6C34878D82A}">
                    <a16:rowId xmlns:a16="http://schemas.microsoft.com/office/drawing/2014/main" val="593257773"/>
                  </a:ext>
                </a:extLst>
              </a:tr>
              <a:tr h="455081">
                <a:tc>
                  <a:txBody>
                    <a:bodyPr/>
                    <a:lstStyle/>
                    <a:p>
                      <a:pPr marL="0" algn="ctr" fontAlgn="t">
                        <a:lnSpc>
                          <a:spcPct val="100000"/>
                        </a:lnSpc>
                        <a:buNone/>
                      </a:pPr>
                      <a:r>
                        <a:rPr lang="en-IN" sz="12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2</a:t>
                      </a:r>
                      <a:endParaRPr lang="en-IN" sz="1200" b="1"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r>
                        <a:rPr lang="en-IN" sz="1100" b="1"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If Bias is not detected</a:t>
                      </a:r>
                      <a:endPar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endParaRPr>
                    </a:p>
                  </a:txBody>
                  <a:tcPr marL="36000" marR="36000" marT="36000" marB="36000" anchor="ctr"/>
                </a:tc>
                <a:tc>
                  <a:txBody>
                    <a:bodyPr/>
                    <a:lstStyle/>
                    <a:p>
                      <a:pPr marL="0" algn="l" fontAlgn="t">
                        <a:lnSpc>
                          <a:spcPct val="100000"/>
                        </a:lnSpc>
                        <a:buNone/>
                      </a:pPr>
                      <a:r>
                        <a:rPr lang="en-US"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This is still valuable. Organizations should continue monitoring fairness to ensure sustained equitable performance over time</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tc>
                <a:extLst>
                  <a:ext uri="{0D108BD9-81ED-4DB2-BD59-A6C34878D82A}">
                    <a16:rowId xmlns:a16="http://schemas.microsoft.com/office/drawing/2014/main" val="1697979906"/>
                  </a:ext>
                </a:extLst>
              </a:tr>
              <a:tr h="697890">
                <a:tc>
                  <a:txBody>
                    <a:bodyPr/>
                    <a:lstStyle/>
                    <a:p>
                      <a:pPr marL="0" algn="ctr" fontAlgn="t">
                        <a:lnSpc>
                          <a:spcPct val="100000"/>
                        </a:lnSpc>
                        <a:buNone/>
                      </a:pPr>
                      <a:r>
                        <a:rPr lang="en-IN" sz="1200" b="1"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3</a:t>
                      </a:r>
                    </a:p>
                  </a:txBody>
                  <a:tcPr marL="36000" marR="36000" marT="36000" marB="36000" anchor="ctr">
                    <a:solidFill>
                      <a:schemeClr val="bg1">
                        <a:alpha val="20000"/>
                      </a:schemeClr>
                    </a:solidFill>
                  </a:tcPr>
                </a:tc>
                <a:tc>
                  <a:txBody>
                    <a:bodyPr/>
                    <a:lstStyle/>
                    <a:p>
                      <a:r>
                        <a:rPr lang="en-IN" sz="1100" b="1"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If Mitigation works</a:t>
                      </a:r>
                    </a:p>
                  </a:txBody>
                  <a:tcPr marL="36000" marR="36000" marT="36000" marB="36000" anchor="ctr">
                    <a:solidFill>
                      <a:schemeClr val="bg1">
                        <a:alpha val="20000"/>
                      </a:schemeClr>
                    </a:solidFill>
                  </a:tcPr>
                </a:tc>
                <a:tc>
                  <a:txBody>
                    <a:bodyPr/>
                    <a:lstStyle/>
                    <a:p>
                      <a:pPr marL="0" algn="l" fontAlgn="t">
                        <a:lnSpc>
                          <a:spcPct val="100000"/>
                        </a:lnSpc>
                        <a:buNone/>
                      </a:pPr>
                      <a:r>
                        <a:rPr lang="en-US"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Bias mitigation techniques should be incorporated into model development pipelines to improve equity without compromising predictive performance.</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solidFill>
                      <a:schemeClr val="bg1">
                        <a:alpha val="20000"/>
                      </a:schemeClr>
                    </a:solidFill>
                  </a:tcPr>
                </a:tc>
                <a:extLst>
                  <a:ext uri="{0D108BD9-81ED-4DB2-BD59-A6C34878D82A}">
                    <a16:rowId xmlns:a16="http://schemas.microsoft.com/office/drawing/2014/main" val="261234682"/>
                  </a:ext>
                </a:extLst>
              </a:tr>
              <a:tr h="445545">
                <a:tc>
                  <a:txBody>
                    <a:bodyPr/>
                    <a:lstStyle/>
                    <a:p>
                      <a:pPr marL="0" algn="ctr" fontAlgn="t">
                        <a:lnSpc>
                          <a:spcPct val="100000"/>
                        </a:lnSpc>
                        <a:buNone/>
                      </a:pPr>
                      <a:r>
                        <a:rPr lang="en-IN" sz="1200" b="1"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4</a:t>
                      </a:r>
                    </a:p>
                  </a:txBody>
                  <a:tcPr marL="36000" marR="36000" marT="36000" marB="36000" anchor="ctr"/>
                </a:tc>
                <a:tc>
                  <a:txBody>
                    <a:bodyPr/>
                    <a:lstStyle/>
                    <a:p>
                      <a:pPr marR="0" algn="l" rtl="0">
                        <a:lnSpc>
                          <a:spcPct val="100000"/>
                        </a:lnSpc>
                        <a:spcBef>
                          <a:spcPts val="0"/>
                        </a:spcBef>
                        <a:spcAft>
                          <a:spcPts val="0"/>
                        </a:spcAft>
                        <a:buClr>
                          <a:srgbClr val="000000"/>
                        </a:buClr>
                        <a:buFont typeface="Arial"/>
                      </a:pPr>
                      <a:r>
                        <a:rPr lang="en-IN" sz="1100" b="1"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If Trade-off Exists (Fairness vs Performance)</a:t>
                      </a:r>
                    </a:p>
                  </a:txBody>
                  <a:tcPr marL="36000" marR="36000" marT="36000" marB="36000" anchor="ctr"/>
                </a:tc>
                <a:tc>
                  <a:txBody>
                    <a:bodyPr/>
                    <a:lstStyle/>
                    <a:p>
                      <a:pPr marL="0" algn="l" fontAlgn="t">
                        <a:lnSpc>
                          <a:spcPct val="100000"/>
                        </a:lnSpc>
                        <a:buNone/>
                      </a:pPr>
                      <a:r>
                        <a:rPr lang="en-US"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Organizations should explicitly define acceptable trade-offs between fairness and predictive accuracy based on clinical priorities and ethical considerations.</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tc>
                <a:extLst>
                  <a:ext uri="{0D108BD9-81ED-4DB2-BD59-A6C34878D82A}">
                    <a16:rowId xmlns:a16="http://schemas.microsoft.com/office/drawing/2014/main" val="3859481386"/>
                  </a:ext>
                </a:extLst>
              </a:tr>
            </a:tbl>
          </a:graphicData>
        </a:graphic>
      </p:graphicFrame>
    </p:spTree>
    <p:extLst>
      <p:ext uri="{BB962C8B-B14F-4D97-AF65-F5344CB8AC3E}">
        <p14:creationId xmlns:p14="http://schemas.microsoft.com/office/powerpoint/2010/main" val="2763824697"/>
      </p:ext>
    </p:extLst>
  </p:cSld>
  <p:clrMapOvr>
    <a:overrideClrMapping bg1="lt1" tx1="dk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32"/>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p>
            <a:pPr marL="0" lvl="0" indent="0" algn="l" rtl="0">
              <a:lnSpc>
                <a:spcPct val="100000"/>
              </a:lnSpc>
              <a:spcBef>
                <a:spcPts val="0"/>
              </a:spcBef>
              <a:spcAft>
                <a:spcPts val="0"/>
              </a:spcAft>
              <a:buSzPts val="2200"/>
              <a:buNone/>
            </a:pPr>
            <a:endParaRPr/>
          </a:p>
        </p:txBody>
      </p:sp>
      <p:sp>
        <p:nvSpPr>
          <p:cNvPr id="162" name="Google Shape;162;p32"/>
          <p:cNvSpPr txBox="1">
            <a:spLocks noGrp="1"/>
          </p:cNvSpPr>
          <p:nvPr>
            <p:ph type="sldNum" idx="4294967295"/>
          </p:nvPr>
        </p:nvSpPr>
        <p:spPr>
          <a:xfrm>
            <a:off x="8556784" y="4749851"/>
            <a:ext cx="548700" cy="393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800"/>
              <a:buNone/>
            </a:pPr>
            <a:fld id="{00000000-1234-1234-1234-123412341234}" type="slidenum">
              <a:rPr lang="en"/>
              <a:t>12</a:t>
            </a:fld>
            <a:endParaRPr/>
          </a:p>
        </p:txBody>
      </p:sp>
    </p:spTree>
  </p:cSld>
  <p:clrMapOvr>
    <a:masterClrMapping/>
  </p:clrMapOvr>
</p:sld>
</file>

<file path=ppt/theme/theme1.xml><?xml version="1.0" encoding="utf-8"?>
<a:theme xmlns:a="http://schemas.openxmlformats.org/drawingml/2006/main"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Just Lo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themeOverride>
</file>

<file path=docMetadata/LabelInfo.xml><?xml version="1.0" encoding="utf-8"?>
<clbl:labelList xmlns:clbl="http://schemas.microsoft.com/office/2020/mipLabelMetadata">
  <clbl:label id="{1a407a2d-7675-4d17-8692-b3ac285306e4}" enabled="0" method="" siteId="{1a407a2d-7675-4d17-8692-b3ac285306e4}" removed="1"/>
</clbl:labelList>
</file>

<file path=docProps/app.xml><?xml version="1.0" encoding="utf-8"?>
<Properties xmlns="http://schemas.openxmlformats.org/officeDocument/2006/extended-properties" xmlns:vt="http://schemas.openxmlformats.org/officeDocument/2006/docPropsVTypes">
  <TotalTime>0</TotalTime>
  <Words>1330</Words>
  <Application>Microsoft Office PowerPoint</Application>
  <PresentationFormat>On-screen Show (16:9)</PresentationFormat>
  <Paragraphs>204</Paragraphs>
  <Slides>12</Slides>
  <Notes>12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12</vt:i4>
      </vt:variant>
    </vt:vector>
  </HeadingPairs>
  <TitlesOfParts>
    <vt:vector size="21" baseType="lpstr">
      <vt:lpstr>Arial</vt:lpstr>
      <vt:lpstr>Nunito ExtraBold</vt:lpstr>
      <vt:lpstr>Roboto</vt:lpstr>
      <vt:lpstr>Cambria Math</vt:lpstr>
      <vt:lpstr>Nunito SemiBold</vt:lpstr>
      <vt:lpstr>Nunito</vt:lpstr>
      <vt:lpstr>Calibri</vt:lpstr>
      <vt:lpstr>Just Logo</vt:lpstr>
      <vt:lpstr>Just Logo</vt:lpstr>
      <vt:lpstr>Capstone project : Mentor discussion-2</vt:lpstr>
      <vt:lpstr>Executive Summary: Project</vt:lpstr>
      <vt:lpstr>Target Audience</vt:lpstr>
      <vt:lpstr>Research Questions</vt:lpstr>
      <vt:lpstr>Data</vt:lpstr>
      <vt:lpstr>Data dictionary</vt:lpstr>
      <vt:lpstr>Approach</vt:lpstr>
      <vt:lpstr>Approach…. contd</vt:lpstr>
      <vt:lpstr>Sample size calculations</vt:lpstr>
      <vt:lpstr>Applications</vt:lpstr>
      <vt:lpstr>Recommendations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Ashok, Ajit</dc:creator>
  <cp:lastModifiedBy>Shenvi, Ajit Ashok</cp:lastModifiedBy>
  <cp:revision>1</cp:revision>
  <dcterms:modified xsi:type="dcterms:W3CDTF">2026-04-19T13:49:25Z</dcterms:modified>
</cp:coreProperties>
</file>